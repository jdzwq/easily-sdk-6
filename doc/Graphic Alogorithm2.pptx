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3" r:id="rId12"/>
    <p:sldId id="265" r:id="rId13"/>
    <p:sldId id="264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720"/>
    <p:restoredTop sz="94551"/>
  </p:normalViewPr>
  <p:slideViewPr>
    <p:cSldViewPr snapToGrid="0" snapToObjects="1">
      <p:cViewPr varScale="1">
        <p:scale>
          <a:sx n="84" d="100"/>
          <a:sy n="84" d="100"/>
        </p:scale>
        <p:origin x="208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94199E-9B1B-744B-B965-BB8D52DA51F6}" type="datetimeFigureOut">
              <a:rPr kumimoji="1" lang="zh-CN" altLang="en-US" smtClean="0"/>
              <a:t>2025/8/7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5DB877-ADE5-A041-B664-B66009E9518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8994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DB877-ADE5-A041-B664-B66009E95183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6554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33638-2F09-0A43-BF92-40847F7BDBEA}" type="datetimeFigureOut">
              <a:rPr kumimoji="1" lang="zh-CN" altLang="en-US" smtClean="0"/>
              <a:t>2025/8/7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A42F-A8BF-954C-84B7-30E03870B8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4805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33638-2F09-0A43-BF92-40847F7BDBEA}" type="datetimeFigureOut">
              <a:rPr kumimoji="1" lang="zh-CN" altLang="en-US" smtClean="0"/>
              <a:t>2025/8/7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A42F-A8BF-954C-84B7-30E03870B8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7913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33638-2F09-0A43-BF92-40847F7BDBEA}" type="datetimeFigureOut">
              <a:rPr kumimoji="1" lang="zh-CN" altLang="en-US" smtClean="0"/>
              <a:t>2025/8/7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A42F-A8BF-954C-84B7-30E03870B8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7297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33638-2F09-0A43-BF92-40847F7BDBEA}" type="datetimeFigureOut">
              <a:rPr kumimoji="1" lang="zh-CN" altLang="en-US" smtClean="0"/>
              <a:t>2025/8/7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A42F-A8BF-954C-84B7-30E03870B8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7523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33638-2F09-0A43-BF92-40847F7BDBEA}" type="datetimeFigureOut">
              <a:rPr kumimoji="1" lang="zh-CN" altLang="en-US" smtClean="0"/>
              <a:t>2025/8/7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A42F-A8BF-954C-84B7-30E03870B8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5255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33638-2F09-0A43-BF92-40847F7BDBEA}" type="datetimeFigureOut">
              <a:rPr kumimoji="1" lang="zh-CN" altLang="en-US" smtClean="0"/>
              <a:t>2025/8/7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A42F-A8BF-954C-84B7-30E03870B8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595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33638-2F09-0A43-BF92-40847F7BDBEA}" type="datetimeFigureOut">
              <a:rPr kumimoji="1" lang="zh-CN" altLang="en-US" smtClean="0"/>
              <a:t>2025/8/7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A42F-A8BF-954C-84B7-30E03870B8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566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33638-2F09-0A43-BF92-40847F7BDBEA}" type="datetimeFigureOut">
              <a:rPr kumimoji="1" lang="zh-CN" altLang="en-US" smtClean="0"/>
              <a:t>2025/8/7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A42F-A8BF-954C-84B7-30E03870B8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4083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33638-2F09-0A43-BF92-40847F7BDBEA}" type="datetimeFigureOut">
              <a:rPr kumimoji="1" lang="zh-CN" altLang="en-US" smtClean="0"/>
              <a:t>2025/8/7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A42F-A8BF-954C-84B7-30E03870B8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9603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33638-2F09-0A43-BF92-40847F7BDBEA}" type="datetimeFigureOut">
              <a:rPr kumimoji="1" lang="zh-CN" altLang="en-US" smtClean="0"/>
              <a:t>2025/8/7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A42F-A8BF-954C-84B7-30E03870B8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2778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33638-2F09-0A43-BF92-40847F7BDBEA}" type="datetimeFigureOut">
              <a:rPr kumimoji="1" lang="zh-CN" altLang="en-US" smtClean="0"/>
              <a:t>2025/8/7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8A42F-A8BF-954C-84B7-30E03870B8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58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533638-2F09-0A43-BF92-40847F7BDBEA}" type="datetimeFigureOut">
              <a:rPr kumimoji="1" lang="zh-CN" altLang="en-US" smtClean="0"/>
              <a:t>2025/8/7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8A42F-A8BF-954C-84B7-30E03870B8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95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/>
        </p:nvSpPr>
        <p:spPr>
          <a:xfrm>
            <a:off x="5063065" y="2440869"/>
            <a:ext cx="1545120" cy="13005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686469" y="1136452"/>
            <a:ext cx="1545120" cy="13005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3437326" y="2443238"/>
            <a:ext cx="1545120" cy="13005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93121" y="181819"/>
            <a:ext cx="31707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err="1"/>
              <a:t>Bresenham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Alogorithm</a:t>
            </a:r>
            <a:r>
              <a:rPr lang="en-US" altLang="zh-CN" sz="2000" b="1" dirty="0"/>
              <a:t>: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line</a:t>
            </a:r>
            <a:endParaRPr lang="zh-CN" altLang="en-US" sz="2000" b="1" dirty="0"/>
          </a:p>
        </p:txBody>
      </p:sp>
      <p:cxnSp>
        <p:nvCxnSpPr>
          <p:cNvPr id="6" name="直线连接符 5"/>
          <p:cNvCxnSpPr/>
          <p:nvPr/>
        </p:nvCxnSpPr>
        <p:spPr>
          <a:xfrm>
            <a:off x="2815195" y="1103086"/>
            <a:ext cx="631486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连接符 6"/>
          <p:cNvCxnSpPr/>
          <p:nvPr/>
        </p:nvCxnSpPr>
        <p:spPr>
          <a:xfrm>
            <a:off x="2815195" y="2440819"/>
            <a:ext cx="631486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/>
          <p:cNvCxnSpPr/>
          <p:nvPr/>
        </p:nvCxnSpPr>
        <p:spPr>
          <a:xfrm>
            <a:off x="2815195" y="3761619"/>
            <a:ext cx="631486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9"/>
          <p:cNvCxnSpPr/>
          <p:nvPr/>
        </p:nvCxnSpPr>
        <p:spPr>
          <a:xfrm>
            <a:off x="3420533" y="652372"/>
            <a:ext cx="0" cy="357689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/>
          <p:cNvCxnSpPr/>
          <p:nvPr/>
        </p:nvCxnSpPr>
        <p:spPr>
          <a:xfrm>
            <a:off x="5012266" y="652371"/>
            <a:ext cx="0" cy="357689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/>
          <p:cNvCxnSpPr/>
          <p:nvPr/>
        </p:nvCxnSpPr>
        <p:spPr>
          <a:xfrm>
            <a:off x="6654800" y="652370"/>
            <a:ext cx="0" cy="357689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/>
          <p:cNvCxnSpPr/>
          <p:nvPr/>
        </p:nvCxnSpPr>
        <p:spPr>
          <a:xfrm>
            <a:off x="8297335" y="652370"/>
            <a:ext cx="0" cy="357689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/>
          <p:cNvCxnSpPr/>
          <p:nvPr/>
        </p:nvCxnSpPr>
        <p:spPr>
          <a:xfrm flipV="1">
            <a:off x="2287505" y="1553801"/>
            <a:ext cx="7874392" cy="20828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040507" y="3868783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x</a:t>
            </a:r>
            <a:endParaRPr kumimoji="1"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5658047" y="3865159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x+1</a:t>
            </a:r>
            <a:endParaRPr kumimoji="1"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2975564" y="2826512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y</a:t>
            </a:r>
            <a:endParaRPr kumimoji="1"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2840283" y="1570162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y+1</a:t>
            </a:r>
            <a:endParaRPr kumimoji="1"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398850" y="1428966"/>
            <a:ext cx="11537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y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=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ax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</a:t>
            </a:r>
            <a:endParaRPr kumimoji="1" lang="zh-CN" altLang="en-US" sz="2000" dirty="0"/>
          </a:p>
        </p:txBody>
      </p:sp>
      <p:sp>
        <p:nvSpPr>
          <p:cNvPr id="21" name="椭圆 20"/>
          <p:cNvSpPr/>
          <p:nvPr/>
        </p:nvSpPr>
        <p:spPr>
          <a:xfrm>
            <a:off x="5627991" y="1468563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u’</a:t>
            </a:r>
            <a:endParaRPr kumimoji="1" lang="zh-CN" altLang="en-US" dirty="0"/>
          </a:p>
        </p:txBody>
      </p:sp>
      <p:sp>
        <p:nvSpPr>
          <p:cNvPr id="22" name="椭圆 21"/>
          <p:cNvSpPr/>
          <p:nvPr/>
        </p:nvSpPr>
        <p:spPr>
          <a:xfrm>
            <a:off x="5627992" y="2857479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l’</a:t>
            </a:r>
            <a:endParaRPr kumimoji="1" lang="zh-CN" altLang="en-US" dirty="0"/>
          </a:p>
        </p:txBody>
      </p:sp>
      <p:sp>
        <p:nvSpPr>
          <p:cNvPr id="23" name="椭圆 22"/>
          <p:cNvSpPr/>
          <p:nvPr/>
        </p:nvSpPr>
        <p:spPr>
          <a:xfrm>
            <a:off x="3968668" y="2861589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</a:t>
            </a:r>
            <a:endParaRPr kumimoji="1" lang="zh-CN" altLang="en-US" dirty="0"/>
          </a:p>
        </p:txBody>
      </p:sp>
      <p:cxnSp>
        <p:nvCxnSpPr>
          <p:cNvPr id="25" name="直线连接符 24"/>
          <p:cNvCxnSpPr/>
          <p:nvPr/>
        </p:nvCxnSpPr>
        <p:spPr>
          <a:xfrm>
            <a:off x="5892658" y="1805367"/>
            <a:ext cx="0" cy="845039"/>
          </a:xfrm>
          <a:prstGeom prst="line">
            <a:avLst/>
          </a:prstGeom>
          <a:ln w="127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/>
          <p:cNvCxnSpPr/>
          <p:nvPr/>
        </p:nvCxnSpPr>
        <p:spPr>
          <a:xfrm>
            <a:off x="5892658" y="2699625"/>
            <a:ext cx="0" cy="42252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连接符 28"/>
          <p:cNvCxnSpPr/>
          <p:nvPr/>
        </p:nvCxnSpPr>
        <p:spPr>
          <a:xfrm>
            <a:off x="3410980" y="2665759"/>
            <a:ext cx="2584394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5892399" y="2025484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l-GR" altLang="zh-CN" dirty="0"/>
              <a:t>Δ</a:t>
            </a:r>
            <a:r>
              <a:rPr kumimoji="1" lang="en-US" altLang="zh-CN" dirty="0"/>
              <a:t>u’</a:t>
            </a:r>
            <a:endParaRPr kumimoji="1"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5926270" y="2584284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l-GR" altLang="zh-CN" dirty="0"/>
              <a:t>Δ</a:t>
            </a:r>
            <a:r>
              <a:rPr kumimoji="1" lang="en-US" altLang="zh-CN" dirty="0"/>
              <a:t>l’</a:t>
            </a:r>
            <a:endParaRPr kumimoji="1"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3810760" y="3361575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(x0,y0)</a:t>
            </a:r>
            <a:endParaRPr kumimoji="1" lang="zh-CN" altLang="en-US" dirty="0"/>
          </a:p>
        </p:txBody>
      </p:sp>
      <p:sp>
        <p:nvSpPr>
          <p:cNvPr id="36" name="椭圆 35"/>
          <p:cNvSpPr/>
          <p:nvPr/>
        </p:nvSpPr>
        <p:spPr>
          <a:xfrm>
            <a:off x="9194657" y="1471484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e</a:t>
            </a:r>
            <a:endParaRPr kumimoji="1"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9058129" y="1126891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(x1,y1)</a:t>
            </a:r>
            <a:endParaRPr kumimoji="1"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2247675" y="4450726"/>
            <a:ext cx="10096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l-GR" altLang="zh-CN" dirty="0"/>
              <a:t>Δ</a:t>
            </a:r>
            <a:r>
              <a:rPr kumimoji="1" lang="en-US" altLang="zh-CN" dirty="0"/>
              <a:t>u’=y+1-a(x+1)-b,</a:t>
            </a:r>
            <a:r>
              <a:rPr kumimoji="1" lang="zh-CN" altLang="en-US" dirty="0"/>
              <a:t>  </a:t>
            </a:r>
            <a:r>
              <a:rPr kumimoji="1" lang="el-GR" altLang="zh-CN" dirty="0"/>
              <a:t>Δ</a:t>
            </a:r>
            <a:r>
              <a:rPr kumimoji="1" lang="en-US" altLang="zh-CN" dirty="0"/>
              <a:t>l’=a(x+1)-b-y,</a:t>
            </a:r>
            <a:r>
              <a:rPr kumimoji="1" lang="el-GR" altLang="zh-CN" dirty="0"/>
              <a:t> </a:t>
            </a:r>
            <a:r>
              <a:rPr kumimoji="1" lang="zh-CN" altLang="en-US" dirty="0"/>
              <a:t> </a:t>
            </a:r>
            <a:r>
              <a:rPr kumimoji="1" lang="el-GR" altLang="zh-CN" dirty="0"/>
              <a:t>Δ</a:t>
            </a:r>
            <a:r>
              <a:rPr kumimoji="1" lang="en-US" altLang="zh-CN" dirty="0"/>
              <a:t>u’-</a:t>
            </a:r>
            <a:r>
              <a:rPr kumimoji="1" lang="el-GR" altLang="zh-CN" dirty="0"/>
              <a:t>Δ</a:t>
            </a:r>
            <a:r>
              <a:rPr kumimoji="1" lang="en-US" altLang="zh-CN" dirty="0"/>
              <a:t>l’=2(y+1)-2a(x+1)-2b-1</a:t>
            </a:r>
            <a:endParaRPr kumimoji="1" lang="zh-CN" altLang="en-US" dirty="0"/>
          </a:p>
        </p:txBody>
      </p:sp>
      <p:cxnSp>
        <p:nvCxnSpPr>
          <p:cNvPr id="42" name="直线连接符 41"/>
          <p:cNvCxnSpPr/>
          <p:nvPr/>
        </p:nvCxnSpPr>
        <p:spPr>
          <a:xfrm>
            <a:off x="4216400" y="3136926"/>
            <a:ext cx="5158257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连接符 43"/>
          <p:cNvCxnSpPr/>
          <p:nvPr/>
        </p:nvCxnSpPr>
        <p:spPr>
          <a:xfrm>
            <a:off x="9374657" y="1893716"/>
            <a:ext cx="0" cy="1244601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8539048" y="3123926"/>
            <a:ext cx="1028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l-GR" altLang="zh-CN" dirty="0"/>
              <a:t>Δ</a:t>
            </a:r>
            <a:r>
              <a:rPr kumimoji="1" lang="en-US" altLang="zh-CN" dirty="0"/>
              <a:t>x=x1-x0</a:t>
            </a:r>
            <a:endParaRPr lang="zh-CN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9379585" y="2650406"/>
            <a:ext cx="10450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l-GR" altLang="zh-CN" dirty="0"/>
              <a:t>Δ</a:t>
            </a:r>
            <a:r>
              <a:rPr kumimoji="1" lang="en-US" altLang="zh-CN" dirty="0"/>
              <a:t>y=y1-y0</a:t>
            </a:r>
            <a:endParaRPr lang="zh-CN" altLang="en-US" dirty="0"/>
          </a:p>
        </p:txBody>
      </p:sp>
      <p:sp>
        <p:nvSpPr>
          <p:cNvPr id="47" name="椭圆 46"/>
          <p:cNvSpPr/>
          <p:nvPr/>
        </p:nvSpPr>
        <p:spPr>
          <a:xfrm>
            <a:off x="7248259" y="1466074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u’’</a:t>
            </a:r>
            <a:endParaRPr kumimoji="1" lang="zh-CN" altLang="en-US" dirty="0"/>
          </a:p>
        </p:txBody>
      </p:sp>
      <p:sp>
        <p:nvSpPr>
          <p:cNvPr id="48" name="椭圆 47"/>
          <p:cNvSpPr/>
          <p:nvPr/>
        </p:nvSpPr>
        <p:spPr>
          <a:xfrm>
            <a:off x="7248259" y="2854326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l’’</a:t>
            </a:r>
            <a:endParaRPr kumimoji="1" lang="zh-CN" altLang="en-US" dirty="0"/>
          </a:p>
        </p:txBody>
      </p:sp>
      <p:sp>
        <p:nvSpPr>
          <p:cNvPr id="49" name="文本框 48"/>
          <p:cNvSpPr txBox="1"/>
          <p:nvPr/>
        </p:nvSpPr>
        <p:spPr>
          <a:xfrm>
            <a:off x="7261362" y="3865159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x+2</a:t>
            </a:r>
            <a:endParaRPr kumimoji="1" lang="zh-CN" altLang="en-US" dirty="0"/>
          </a:p>
        </p:txBody>
      </p:sp>
      <p:cxnSp>
        <p:nvCxnSpPr>
          <p:cNvPr id="50" name="直线连接符 49"/>
          <p:cNvCxnSpPr/>
          <p:nvPr/>
        </p:nvCxnSpPr>
        <p:spPr>
          <a:xfrm>
            <a:off x="3418053" y="2227886"/>
            <a:ext cx="4162192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/>
          <p:cNvCxnSpPr/>
          <p:nvPr/>
        </p:nvCxnSpPr>
        <p:spPr>
          <a:xfrm>
            <a:off x="7519464" y="1861092"/>
            <a:ext cx="0" cy="358379"/>
          </a:xfrm>
          <a:prstGeom prst="line">
            <a:avLst/>
          </a:prstGeom>
          <a:ln w="127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连接符 51"/>
          <p:cNvCxnSpPr/>
          <p:nvPr/>
        </p:nvCxnSpPr>
        <p:spPr>
          <a:xfrm>
            <a:off x="7518259" y="2231827"/>
            <a:ext cx="0" cy="748519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2975224" y="2487893"/>
            <a:ext cx="353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y’</a:t>
            </a:r>
            <a:endParaRPr kumimoji="1" lang="zh-CN" altLang="en-US" dirty="0"/>
          </a:p>
        </p:txBody>
      </p:sp>
      <p:sp>
        <p:nvSpPr>
          <p:cNvPr id="59" name="文本框 58"/>
          <p:cNvSpPr txBox="1"/>
          <p:nvPr/>
        </p:nvSpPr>
        <p:spPr>
          <a:xfrm>
            <a:off x="2975224" y="2064512"/>
            <a:ext cx="411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y’’</a:t>
            </a:r>
            <a:endParaRPr kumimoji="1" lang="zh-CN" altLang="en-US" dirty="0"/>
          </a:p>
        </p:txBody>
      </p:sp>
      <p:sp>
        <p:nvSpPr>
          <p:cNvPr id="60" name="文本框 59"/>
          <p:cNvSpPr txBox="1"/>
          <p:nvPr/>
        </p:nvSpPr>
        <p:spPr>
          <a:xfrm>
            <a:off x="7529446" y="1881971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l-GR" altLang="zh-CN" dirty="0"/>
              <a:t>Δ</a:t>
            </a:r>
            <a:r>
              <a:rPr kumimoji="1" lang="en-US" altLang="zh-CN" dirty="0"/>
              <a:t>u’’</a:t>
            </a:r>
            <a:endParaRPr kumimoji="1" lang="zh-CN" altLang="en-US" dirty="0"/>
          </a:p>
        </p:txBody>
      </p:sp>
      <p:sp>
        <p:nvSpPr>
          <p:cNvPr id="62" name="文本框 61"/>
          <p:cNvSpPr txBox="1"/>
          <p:nvPr/>
        </p:nvSpPr>
        <p:spPr>
          <a:xfrm>
            <a:off x="7534935" y="2465751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l-GR" altLang="zh-CN" dirty="0"/>
              <a:t>Δ</a:t>
            </a:r>
            <a:r>
              <a:rPr kumimoji="1" lang="en-US" altLang="zh-CN" dirty="0"/>
              <a:t>l’’</a:t>
            </a:r>
            <a:endParaRPr kumimoji="1" lang="zh-CN" altLang="en-US" dirty="0"/>
          </a:p>
        </p:txBody>
      </p:sp>
      <p:cxnSp>
        <p:nvCxnSpPr>
          <p:cNvPr id="64" name="直线连接符 63"/>
          <p:cNvCxnSpPr/>
          <p:nvPr/>
        </p:nvCxnSpPr>
        <p:spPr>
          <a:xfrm flipV="1">
            <a:off x="4238668" y="1736074"/>
            <a:ext cx="1596957" cy="1402243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2200161" y="5327354"/>
            <a:ext cx="8256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如选择</a:t>
            </a:r>
            <a:r>
              <a:rPr kumimoji="1" lang="en-US" altLang="zh-CN" dirty="0"/>
              <a:t>l’</a:t>
            </a:r>
            <a:r>
              <a:rPr kumimoji="1" lang="zh-CN" altLang="en-US" dirty="0"/>
              <a:t>点：</a:t>
            </a:r>
            <a:r>
              <a:rPr kumimoji="1" lang="en-US" altLang="zh-CN" dirty="0"/>
              <a:t>y’=a(x+1)+b,</a:t>
            </a:r>
            <a:r>
              <a:rPr kumimoji="1" lang="zh-CN" altLang="en-US" dirty="0"/>
              <a:t> </a:t>
            </a:r>
            <a:r>
              <a:rPr kumimoji="1" lang="en-US" altLang="zh-CN" dirty="0"/>
              <a:t>y=</a:t>
            </a:r>
            <a:r>
              <a:rPr kumimoji="1" lang="en-US" altLang="zh-CN" dirty="0" err="1"/>
              <a:t>ax+b</a:t>
            </a:r>
            <a:r>
              <a:rPr kumimoji="1" lang="en-US" altLang="zh-CN" dirty="0"/>
              <a:t>,</a:t>
            </a:r>
            <a:r>
              <a:rPr kumimoji="1" lang="zh-CN" altLang="en-US" dirty="0"/>
              <a:t>  有</a:t>
            </a:r>
            <a:r>
              <a:rPr kumimoji="1" lang="en-US" altLang="zh-CN" dirty="0"/>
              <a:t>y-y’=-a,</a:t>
            </a:r>
            <a:r>
              <a:rPr kumimoji="1" lang="zh-CN" altLang="en-US" dirty="0"/>
              <a:t> 令偏移增量</a:t>
            </a:r>
            <a:r>
              <a:rPr kumimoji="1" lang="en-US" altLang="zh-CN" dirty="0"/>
              <a:t>f=(y-y’)</a:t>
            </a:r>
            <a:r>
              <a:rPr kumimoji="1" lang="el-GR" altLang="zh-CN" dirty="0"/>
              <a:t> </a:t>
            </a:r>
            <a:r>
              <a:rPr kumimoji="1" lang="zh-CN" altLang="en-US" dirty="0"/>
              <a:t>*</a:t>
            </a:r>
            <a:r>
              <a:rPr kumimoji="1" lang="el-GR" altLang="zh-CN" dirty="0"/>
              <a:t>Δ</a:t>
            </a:r>
            <a:r>
              <a:rPr kumimoji="1" lang="en-US" altLang="zh-CN" dirty="0"/>
              <a:t>x,</a:t>
            </a:r>
            <a:r>
              <a:rPr kumimoji="1" lang="zh-CN" altLang="en-US" dirty="0"/>
              <a:t> 则</a:t>
            </a:r>
            <a:r>
              <a:rPr kumimoji="1" lang="en-US" altLang="zh-CN" dirty="0"/>
              <a:t>f=a</a:t>
            </a:r>
            <a:r>
              <a:rPr kumimoji="1" lang="zh-CN" altLang="en-US" dirty="0"/>
              <a:t>*</a:t>
            </a:r>
            <a:r>
              <a:rPr kumimoji="1" lang="el-GR" altLang="zh-CN" dirty="0"/>
              <a:t> Δ</a:t>
            </a:r>
            <a:r>
              <a:rPr kumimoji="1" lang="en-US" altLang="zh-CN" dirty="0"/>
              <a:t>x=</a:t>
            </a:r>
            <a:r>
              <a:rPr kumimoji="1" lang="el-GR" altLang="zh-CN" dirty="0"/>
              <a:t> </a:t>
            </a:r>
            <a:r>
              <a:rPr kumimoji="1" lang="en-US" altLang="zh-CN" dirty="0"/>
              <a:t>-</a:t>
            </a:r>
            <a:r>
              <a:rPr kumimoji="1" lang="el-GR" altLang="zh-CN" dirty="0"/>
              <a:t>Δ</a:t>
            </a:r>
            <a:r>
              <a:rPr kumimoji="1" lang="en-US" altLang="zh-CN" dirty="0"/>
              <a:t>y</a:t>
            </a:r>
            <a:endParaRPr kumimoji="1" lang="zh-CN" altLang="en-US" dirty="0"/>
          </a:p>
        </p:txBody>
      </p:sp>
      <p:sp>
        <p:nvSpPr>
          <p:cNvPr id="66" name="弧 65"/>
          <p:cNvSpPr/>
          <p:nvPr/>
        </p:nvSpPr>
        <p:spPr>
          <a:xfrm>
            <a:off x="4539385" y="3011178"/>
            <a:ext cx="191286" cy="289650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弧 66"/>
          <p:cNvSpPr/>
          <p:nvPr/>
        </p:nvSpPr>
        <p:spPr>
          <a:xfrm>
            <a:off x="4624052" y="2797179"/>
            <a:ext cx="152971" cy="285930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4754605" y="2901972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</a:t>
            </a:r>
            <a:endParaRPr kumimoji="1" lang="zh-CN" altLang="en-US" dirty="0"/>
          </a:p>
        </p:txBody>
      </p:sp>
      <p:sp>
        <p:nvSpPr>
          <p:cNvPr id="69" name="文本框 68"/>
          <p:cNvSpPr txBox="1"/>
          <p:nvPr/>
        </p:nvSpPr>
        <p:spPr>
          <a:xfrm>
            <a:off x="4777023" y="2560112"/>
            <a:ext cx="325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f’</a:t>
            </a:r>
            <a:endParaRPr kumimoji="1" lang="zh-CN" altLang="en-US" dirty="0"/>
          </a:p>
        </p:txBody>
      </p:sp>
      <p:sp>
        <p:nvSpPr>
          <p:cNvPr id="70" name="文本框 69"/>
          <p:cNvSpPr txBox="1"/>
          <p:nvPr/>
        </p:nvSpPr>
        <p:spPr>
          <a:xfrm>
            <a:off x="2189767" y="5735350"/>
            <a:ext cx="956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如选择</a:t>
            </a:r>
            <a:r>
              <a:rPr kumimoji="1" lang="en-US" altLang="zh-CN" dirty="0"/>
              <a:t>u’</a:t>
            </a:r>
            <a:r>
              <a:rPr kumimoji="1" lang="zh-CN" altLang="en-US" dirty="0"/>
              <a:t>点：</a:t>
            </a:r>
            <a:r>
              <a:rPr kumimoji="1" lang="en-US" altLang="zh-CN" dirty="0"/>
              <a:t>y’=a(x+1)+b,</a:t>
            </a:r>
            <a:r>
              <a:rPr kumimoji="1" lang="zh-CN" altLang="en-US" dirty="0"/>
              <a:t> </a:t>
            </a:r>
            <a:r>
              <a:rPr kumimoji="1" lang="en-US" altLang="zh-CN" dirty="0"/>
              <a:t>y=ax+b+1,</a:t>
            </a:r>
            <a:r>
              <a:rPr kumimoji="1" lang="zh-CN" altLang="en-US" dirty="0"/>
              <a:t>  有</a:t>
            </a:r>
            <a:r>
              <a:rPr kumimoji="1" lang="en-US" altLang="zh-CN" dirty="0"/>
              <a:t>y-y’=1-a,</a:t>
            </a:r>
            <a:r>
              <a:rPr kumimoji="1" lang="zh-CN" altLang="en-US" dirty="0"/>
              <a:t> 令偏移增量</a:t>
            </a:r>
            <a:r>
              <a:rPr kumimoji="1" lang="en-US" altLang="zh-CN" dirty="0"/>
              <a:t>f’=(y-y’)</a:t>
            </a:r>
            <a:r>
              <a:rPr kumimoji="1" lang="el-GR" altLang="zh-CN" dirty="0"/>
              <a:t> </a:t>
            </a:r>
            <a:r>
              <a:rPr kumimoji="1" lang="zh-CN" altLang="en-US" dirty="0"/>
              <a:t>*</a:t>
            </a:r>
            <a:r>
              <a:rPr kumimoji="1" lang="el-GR" altLang="zh-CN" dirty="0"/>
              <a:t>Δ</a:t>
            </a:r>
            <a:r>
              <a:rPr kumimoji="1" lang="en-US" altLang="zh-CN" dirty="0"/>
              <a:t>x,</a:t>
            </a:r>
            <a:r>
              <a:rPr kumimoji="1" lang="zh-CN" altLang="en-US" dirty="0"/>
              <a:t> 则</a:t>
            </a:r>
            <a:r>
              <a:rPr kumimoji="1" lang="en-US" altLang="zh-CN" dirty="0"/>
              <a:t>f’=(1-a)</a:t>
            </a:r>
            <a:r>
              <a:rPr kumimoji="1" lang="zh-CN" altLang="en-US" dirty="0"/>
              <a:t>*</a:t>
            </a:r>
            <a:r>
              <a:rPr kumimoji="1" lang="el-GR" altLang="zh-CN" dirty="0"/>
              <a:t> Δ</a:t>
            </a:r>
            <a:r>
              <a:rPr kumimoji="1" lang="en-US" altLang="zh-CN" dirty="0"/>
              <a:t>x=</a:t>
            </a:r>
            <a:r>
              <a:rPr kumimoji="1" lang="el-GR" altLang="zh-CN" dirty="0"/>
              <a:t> Δ</a:t>
            </a:r>
            <a:r>
              <a:rPr kumimoji="1" lang="en-US" altLang="zh-CN" dirty="0"/>
              <a:t>x-</a:t>
            </a:r>
            <a:r>
              <a:rPr kumimoji="1" lang="el-GR" altLang="zh-CN" dirty="0"/>
              <a:t> Δ</a:t>
            </a:r>
            <a:r>
              <a:rPr kumimoji="1" lang="en-US" altLang="zh-CN" dirty="0"/>
              <a:t>y</a:t>
            </a:r>
            <a:endParaRPr kumimoji="1" lang="zh-CN" altLang="en-US" dirty="0"/>
          </a:p>
        </p:txBody>
      </p:sp>
      <p:sp>
        <p:nvSpPr>
          <p:cNvPr id="71" name="文本框 70"/>
          <p:cNvSpPr txBox="1"/>
          <p:nvPr/>
        </p:nvSpPr>
        <p:spPr>
          <a:xfrm>
            <a:off x="2247675" y="4905735"/>
            <a:ext cx="10096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将</a:t>
            </a:r>
            <a:r>
              <a:rPr kumimoji="1" lang="en-US" altLang="zh-CN" dirty="0"/>
              <a:t>a=</a:t>
            </a:r>
            <a:r>
              <a:rPr kumimoji="1" lang="el-GR" altLang="zh-CN" dirty="0"/>
              <a:t> Δ</a:t>
            </a:r>
            <a:r>
              <a:rPr kumimoji="1" lang="en-US" altLang="zh-CN" dirty="0"/>
              <a:t>y/</a:t>
            </a:r>
            <a:r>
              <a:rPr kumimoji="1" lang="el-GR" altLang="zh-CN" dirty="0"/>
              <a:t> Δ</a:t>
            </a:r>
            <a:r>
              <a:rPr kumimoji="1" lang="en-US" altLang="zh-CN" dirty="0"/>
              <a:t>x,</a:t>
            </a:r>
            <a:r>
              <a:rPr kumimoji="1" lang="zh-CN" altLang="en-US" dirty="0"/>
              <a:t> </a:t>
            </a:r>
            <a:r>
              <a:rPr kumimoji="1" lang="en-US" altLang="zh-CN" dirty="0"/>
              <a:t>y=</a:t>
            </a:r>
            <a:r>
              <a:rPr kumimoji="1" lang="en-US" altLang="zh-CN" dirty="0" err="1"/>
              <a:t>ax+b</a:t>
            </a:r>
            <a:r>
              <a:rPr kumimoji="1" lang="zh-CN" altLang="en-US" dirty="0"/>
              <a:t>代入上式，则</a:t>
            </a:r>
            <a:r>
              <a:rPr kumimoji="1" lang="en-US" altLang="zh-CN" dirty="0"/>
              <a:t>(</a:t>
            </a:r>
            <a:r>
              <a:rPr kumimoji="1" lang="el-GR" altLang="zh-CN" dirty="0"/>
              <a:t>Δ</a:t>
            </a:r>
            <a:r>
              <a:rPr kumimoji="1" lang="en-US" altLang="zh-CN" dirty="0"/>
              <a:t>u’-</a:t>
            </a:r>
            <a:r>
              <a:rPr kumimoji="1" lang="el-GR" altLang="zh-CN" dirty="0"/>
              <a:t>Δ</a:t>
            </a:r>
            <a:r>
              <a:rPr kumimoji="1" lang="en-US" altLang="zh-CN" dirty="0"/>
              <a:t>l’)</a:t>
            </a:r>
            <a:r>
              <a:rPr kumimoji="1" lang="el-GR" altLang="zh-CN" dirty="0"/>
              <a:t> Δ</a:t>
            </a:r>
            <a:r>
              <a:rPr kumimoji="1" lang="en-US" altLang="zh-CN" dirty="0"/>
              <a:t>x=</a:t>
            </a:r>
            <a:r>
              <a:rPr kumimoji="1" lang="el-GR" altLang="zh-CN" dirty="0"/>
              <a:t> Δ</a:t>
            </a:r>
            <a:r>
              <a:rPr kumimoji="1" lang="en-US" altLang="zh-CN" dirty="0"/>
              <a:t>x-</a:t>
            </a:r>
            <a:r>
              <a:rPr kumimoji="1" lang="el-GR" altLang="zh-CN" dirty="0"/>
              <a:t> </a:t>
            </a:r>
            <a:r>
              <a:rPr kumimoji="1" lang="en-US" altLang="zh-CN" dirty="0"/>
              <a:t>2</a:t>
            </a:r>
            <a:r>
              <a:rPr kumimoji="1" lang="el-GR" altLang="zh-CN" dirty="0"/>
              <a:t>Δ</a:t>
            </a:r>
            <a:r>
              <a:rPr kumimoji="1" lang="en-US" altLang="zh-CN" dirty="0"/>
              <a:t>y</a:t>
            </a:r>
            <a:endParaRPr kumimoji="1" lang="zh-CN" altLang="en-US" dirty="0"/>
          </a:p>
        </p:txBody>
      </p:sp>
      <p:sp>
        <p:nvSpPr>
          <p:cNvPr id="72" name="文本框 71"/>
          <p:cNvSpPr txBox="1"/>
          <p:nvPr/>
        </p:nvSpPr>
        <p:spPr>
          <a:xfrm>
            <a:off x="2200161" y="6213930"/>
            <a:ext cx="8003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判断：初始化</a:t>
            </a:r>
            <a:r>
              <a:rPr kumimoji="1" lang="en-US" altLang="zh-CN" dirty="0"/>
              <a:t>f=0,</a:t>
            </a:r>
            <a:r>
              <a:rPr kumimoji="1" lang="zh-CN" altLang="en-US" dirty="0"/>
              <a:t> 如</a:t>
            </a:r>
            <a:r>
              <a:rPr kumimoji="1" lang="en-US" altLang="zh-CN" dirty="0"/>
              <a:t>f=</a:t>
            </a:r>
            <a:r>
              <a:rPr kumimoji="1" lang="el-GR" altLang="zh-CN" dirty="0"/>
              <a:t>Δ</a:t>
            </a:r>
            <a:r>
              <a:rPr kumimoji="1" lang="en-US" altLang="zh-CN" dirty="0"/>
              <a:t>x-</a:t>
            </a:r>
            <a:r>
              <a:rPr kumimoji="1" lang="el-GR" altLang="zh-CN" dirty="0"/>
              <a:t> </a:t>
            </a:r>
            <a:r>
              <a:rPr kumimoji="1" lang="en-US" altLang="zh-CN" dirty="0"/>
              <a:t>2</a:t>
            </a:r>
            <a:r>
              <a:rPr kumimoji="1" lang="el-GR" altLang="zh-CN" dirty="0"/>
              <a:t>Δ</a:t>
            </a:r>
            <a:r>
              <a:rPr kumimoji="1" lang="en-US" altLang="zh-CN" dirty="0"/>
              <a:t>y&gt;0,</a:t>
            </a:r>
            <a:r>
              <a:rPr kumimoji="1" lang="zh-CN" altLang="en-US" dirty="0"/>
              <a:t> 则选</a:t>
            </a:r>
            <a:r>
              <a:rPr kumimoji="1" lang="en-US" altLang="zh-CN" dirty="0"/>
              <a:t>(x+1,y),</a:t>
            </a:r>
            <a:r>
              <a:rPr kumimoji="1" lang="zh-CN" altLang="en-US" dirty="0"/>
              <a:t> </a:t>
            </a:r>
            <a:r>
              <a:rPr kumimoji="1" lang="en-US" altLang="zh-CN" dirty="0"/>
              <a:t>f+=-</a:t>
            </a:r>
            <a:r>
              <a:rPr kumimoji="1" lang="el-GR" altLang="zh-CN" dirty="0"/>
              <a:t>Δ</a:t>
            </a:r>
            <a:r>
              <a:rPr kumimoji="1" lang="en-US" altLang="zh-CN" dirty="0"/>
              <a:t>y,</a:t>
            </a:r>
            <a:r>
              <a:rPr kumimoji="1" lang="zh-CN" altLang="en-US" dirty="0"/>
              <a:t> 否则选</a:t>
            </a:r>
            <a:r>
              <a:rPr kumimoji="1" lang="en-US" altLang="zh-CN" dirty="0"/>
              <a:t>(x+1,y+1),</a:t>
            </a:r>
            <a:r>
              <a:rPr kumimoji="1" lang="zh-CN" altLang="en-US" dirty="0"/>
              <a:t> </a:t>
            </a:r>
            <a:r>
              <a:rPr kumimoji="1" lang="en-US" altLang="zh-CN" dirty="0"/>
              <a:t>f+=</a:t>
            </a:r>
            <a:r>
              <a:rPr kumimoji="1" lang="el-GR" altLang="zh-CN" dirty="0"/>
              <a:t> Δ</a:t>
            </a:r>
            <a:r>
              <a:rPr kumimoji="1" lang="en-US" altLang="zh-CN" dirty="0"/>
              <a:t>x-</a:t>
            </a:r>
            <a:r>
              <a:rPr kumimoji="1" lang="el-GR" altLang="zh-CN" dirty="0"/>
              <a:t> Δ</a:t>
            </a:r>
            <a:r>
              <a:rPr kumimoji="1" lang="en-US" altLang="zh-CN" dirty="0"/>
              <a:t>y</a:t>
            </a:r>
            <a:endParaRPr kumimoji="1" lang="zh-CN" altLang="en-US" dirty="0"/>
          </a:p>
        </p:txBody>
      </p:sp>
      <p:sp>
        <p:nvSpPr>
          <p:cNvPr id="73" name="文本框 72"/>
          <p:cNvSpPr txBox="1"/>
          <p:nvPr/>
        </p:nvSpPr>
        <p:spPr>
          <a:xfrm>
            <a:off x="405205" y="1822844"/>
            <a:ext cx="14554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a=(</a:t>
            </a:r>
            <a:r>
              <a:rPr kumimoji="1" lang="el-GR" altLang="zh-CN" sz="2000" dirty="0"/>
              <a:t>Δ</a:t>
            </a:r>
            <a:r>
              <a:rPr kumimoji="1" lang="en-US" altLang="zh-CN" sz="2000" dirty="0"/>
              <a:t>y/</a:t>
            </a:r>
            <a:r>
              <a:rPr kumimoji="1" lang="el-GR" altLang="zh-CN" sz="2000" dirty="0"/>
              <a:t>Δ</a:t>
            </a:r>
            <a:r>
              <a:rPr kumimoji="1" lang="en-US" altLang="zh-CN" sz="2000" dirty="0"/>
              <a:t>x)&lt;1</a:t>
            </a:r>
            <a:endParaRPr kumimoji="1" lang="zh-CN" altLang="en-US" sz="2000" dirty="0"/>
          </a:p>
        </p:txBody>
      </p:sp>
      <p:sp>
        <p:nvSpPr>
          <p:cNvPr id="74" name="文本框 73"/>
          <p:cNvSpPr txBox="1"/>
          <p:nvPr/>
        </p:nvSpPr>
        <p:spPr>
          <a:xfrm>
            <a:off x="398850" y="701871"/>
            <a:ext cx="28125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x: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independent</a:t>
            </a:r>
            <a:r>
              <a:rPr kumimoji="1" lang="zh-CN" altLang="en-US" sz="2000" dirty="0"/>
              <a:t> </a:t>
            </a:r>
            <a:r>
              <a:rPr kumimoji="1" lang="en-US" altLang="zh-CN" sz="2000" dirty="0" err="1"/>
              <a:t>vaiable</a:t>
            </a:r>
            <a:r>
              <a:rPr kumimoji="1" lang="zh-CN" altLang="en-US" sz="2000" dirty="0"/>
              <a:t>，</a:t>
            </a:r>
          </a:p>
          <a:p>
            <a:r>
              <a:rPr kumimoji="1" lang="en-US" altLang="zh-CN" sz="2000" dirty="0"/>
              <a:t>y: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dependent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variable</a:t>
            </a:r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72933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/>
        </p:nvSpPr>
        <p:spPr>
          <a:xfrm>
            <a:off x="2426020" y="3485351"/>
            <a:ext cx="1545120" cy="13005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3982618" y="2166223"/>
            <a:ext cx="1545120" cy="13005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2422595" y="4862568"/>
            <a:ext cx="1545120" cy="13005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93121" y="181819"/>
            <a:ext cx="32284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err="1"/>
              <a:t>Bresenham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Alogorithm</a:t>
            </a:r>
            <a:r>
              <a:rPr lang="en-US" altLang="zh-CN" sz="2000" b="1" dirty="0"/>
              <a:t>: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line</a:t>
            </a:r>
            <a:r>
              <a:rPr lang="zh-CN" altLang="en-US" sz="2000" b="1" dirty="0"/>
              <a:t> </a:t>
            </a:r>
          </a:p>
        </p:txBody>
      </p:sp>
      <p:cxnSp>
        <p:nvCxnSpPr>
          <p:cNvPr id="6" name="直线连接符 5"/>
          <p:cNvCxnSpPr/>
          <p:nvPr/>
        </p:nvCxnSpPr>
        <p:spPr>
          <a:xfrm>
            <a:off x="1836481" y="2167029"/>
            <a:ext cx="431314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连接符 6"/>
          <p:cNvCxnSpPr/>
          <p:nvPr/>
        </p:nvCxnSpPr>
        <p:spPr>
          <a:xfrm>
            <a:off x="1887282" y="3504762"/>
            <a:ext cx="431314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/>
          <p:cNvCxnSpPr/>
          <p:nvPr/>
        </p:nvCxnSpPr>
        <p:spPr>
          <a:xfrm>
            <a:off x="1819547" y="4825562"/>
            <a:ext cx="431314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9"/>
          <p:cNvCxnSpPr/>
          <p:nvPr/>
        </p:nvCxnSpPr>
        <p:spPr>
          <a:xfrm>
            <a:off x="2406155" y="1750868"/>
            <a:ext cx="0" cy="476084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/>
          <p:cNvCxnSpPr/>
          <p:nvPr/>
        </p:nvCxnSpPr>
        <p:spPr>
          <a:xfrm>
            <a:off x="3997888" y="1750869"/>
            <a:ext cx="0" cy="476084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/>
          <p:cNvCxnSpPr/>
          <p:nvPr/>
        </p:nvCxnSpPr>
        <p:spPr>
          <a:xfrm>
            <a:off x="5606556" y="1767802"/>
            <a:ext cx="0" cy="476084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/>
          <p:cNvCxnSpPr/>
          <p:nvPr/>
        </p:nvCxnSpPr>
        <p:spPr>
          <a:xfrm flipV="1">
            <a:off x="3132842" y="1230817"/>
            <a:ext cx="1797446" cy="443467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3036538" y="6204490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x</a:t>
            </a:r>
            <a:endParaRPr kumimoji="1"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4654078" y="6200866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x+1</a:t>
            </a:r>
            <a:endParaRPr kumimoji="1"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1825905" y="3893044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y+1</a:t>
            </a:r>
            <a:endParaRPr kumimoji="1"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1825905" y="2634105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y+2</a:t>
            </a:r>
            <a:endParaRPr kumimoji="1"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411661" y="1044400"/>
            <a:ext cx="11514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x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=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ay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</a:t>
            </a:r>
            <a:endParaRPr kumimoji="1" lang="zh-CN" altLang="en-US" sz="2000" dirty="0"/>
          </a:p>
        </p:txBody>
      </p:sp>
      <p:sp>
        <p:nvSpPr>
          <p:cNvPr id="21" name="椭圆 20"/>
          <p:cNvSpPr/>
          <p:nvPr/>
        </p:nvSpPr>
        <p:spPr>
          <a:xfrm>
            <a:off x="2937841" y="3885434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l’</a:t>
            </a:r>
            <a:endParaRPr kumimoji="1" lang="zh-CN" altLang="en-US" dirty="0"/>
          </a:p>
        </p:txBody>
      </p:sp>
      <p:sp>
        <p:nvSpPr>
          <p:cNvPr id="22" name="椭圆 21"/>
          <p:cNvSpPr/>
          <p:nvPr/>
        </p:nvSpPr>
        <p:spPr>
          <a:xfrm>
            <a:off x="4495422" y="3886224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r’</a:t>
            </a:r>
            <a:endParaRPr kumimoji="1" lang="zh-CN" altLang="en-US" dirty="0"/>
          </a:p>
        </p:txBody>
      </p:sp>
      <p:sp>
        <p:nvSpPr>
          <p:cNvPr id="23" name="椭圆 22"/>
          <p:cNvSpPr/>
          <p:nvPr/>
        </p:nvSpPr>
        <p:spPr>
          <a:xfrm>
            <a:off x="2939902" y="5298199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</a:t>
            </a:r>
            <a:endParaRPr kumimoji="1" lang="zh-CN" altLang="en-US" dirty="0"/>
          </a:p>
        </p:txBody>
      </p:sp>
      <p:cxnSp>
        <p:nvCxnSpPr>
          <p:cNvPr id="25" name="直线连接符 24"/>
          <p:cNvCxnSpPr/>
          <p:nvPr/>
        </p:nvCxnSpPr>
        <p:spPr>
          <a:xfrm flipV="1">
            <a:off x="3223563" y="4193039"/>
            <a:ext cx="1519538" cy="9221"/>
          </a:xfrm>
          <a:prstGeom prst="line">
            <a:avLst/>
          </a:prstGeom>
          <a:ln w="127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3337212" y="4190276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l-GR" altLang="zh-CN" dirty="0"/>
              <a:t>Δ</a:t>
            </a:r>
            <a:r>
              <a:rPr kumimoji="1" lang="en-US" altLang="zh-CN" dirty="0"/>
              <a:t>l’</a:t>
            </a:r>
            <a:endParaRPr kumimoji="1"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3946426" y="4190276"/>
            <a:ext cx="462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l-GR" altLang="zh-CN" dirty="0"/>
              <a:t>Δ</a:t>
            </a:r>
            <a:r>
              <a:rPr kumimoji="1" lang="en-US" altLang="zh-CN" dirty="0"/>
              <a:t>r’</a:t>
            </a:r>
            <a:endParaRPr kumimoji="1"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2186505" y="5373368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(x0,y0)</a:t>
            </a:r>
            <a:endParaRPr kumimoji="1" lang="zh-CN" altLang="en-US" dirty="0"/>
          </a:p>
        </p:txBody>
      </p:sp>
      <p:sp>
        <p:nvSpPr>
          <p:cNvPr id="36" name="椭圆 35"/>
          <p:cNvSpPr/>
          <p:nvPr/>
        </p:nvSpPr>
        <p:spPr>
          <a:xfrm>
            <a:off x="4574762" y="1045378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e</a:t>
            </a:r>
            <a:endParaRPr kumimoji="1"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5131108" y="1107331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(x1,y1)</a:t>
            </a:r>
            <a:endParaRPr kumimoji="1"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7015629" y="1791511"/>
            <a:ext cx="4091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l-GR" altLang="zh-CN" dirty="0"/>
              <a:t>Δ</a:t>
            </a:r>
            <a:r>
              <a:rPr kumimoji="1" lang="en-US" altLang="zh-CN" dirty="0"/>
              <a:t>r’=x+1-a(y+1)-b,</a:t>
            </a:r>
            <a:r>
              <a:rPr kumimoji="1" lang="el-GR" altLang="zh-CN" dirty="0"/>
              <a:t> Δ</a:t>
            </a:r>
            <a:r>
              <a:rPr kumimoji="1" lang="en-US" altLang="zh-CN" dirty="0"/>
              <a:t>l’=a(y+1)+b-x,</a:t>
            </a:r>
            <a:r>
              <a:rPr kumimoji="1" lang="zh-CN" altLang="en-US" dirty="0"/>
              <a:t>  </a:t>
            </a:r>
          </a:p>
          <a:p>
            <a:r>
              <a:rPr kumimoji="1" lang="el-GR" altLang="zh-CN" dirty="0"/>
              <a:t>Δ</a:t>
            </a:r>
            <a:r>
              <a:rPr kumimoji="1" lang="en-US" altLang="zh-CN" dirty="0"/>
              <a:t>r’-</a:t>
            </a:r>
            <a:r>
              <a:rPr kumimoji="1" lang="el-GR" altLang="zh-CN" dirty="0"/>
              <a:t>Δ</a:t>
            </a:r>
            <a:r>
              <a:rPr kumimoji="1" lang="en-US" altLang="zh-CN" dirty="0"/>
              <a:t>l’=-2a(y+1)+2(x+1)-2b-1</a:t>
            </a:r>
            <a:endParaRPr kumimoji="1" lang="zh-CN" altLang="en-US" dirty="0"/>
          </a:p>
        </p:txBody>
      </p:sp>
      <p:cxnSp>
        <p:nvCxnSpPr>
          <p:cNvPr id="42" name="直线连接符 41"/>
          <p:cNvCxnSpPr/>
          <p:nvPr/>
        </p:nvCxnSpPr>
        <p:spPr>
          <a:xfrm>
            <a:off x="3129488" y="5572458"/>
            <a:ext cx="1643580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连接符 43"/>
          <p:cNvCxnSpPr/>
          <p:nvPr/>
        </p:nvCxnSpPr>
        <p:spPr>
          <a:xfrm>
            <a:off x="4782597" y="1291981"/>
            <a:ext cx="0" cy="4296699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3950842" y="5575126"/>
            <a:ext cx="1028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l-GR" altLang="zh-CN" dirty="0"/>
              <a:t>Δ</a:t>
            </a:r>
            <a:r>
              <a:rPr kumimoji="1" lang="en-US" altLang="zh-CN" dirty="0"/>
              <a:t>x=x1-x0</a:t>
            </a:r>
            <a:endParaRPr lang="zh-CN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4759840" y="5003931"/>
            <a:ext cx="10450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l-GR" altLang="zh-CN" dirty="0"/>
              <a:t>Δ</a:t>
            </a:r>
            <a:r>
              <a:rPr kumimoji="1" lang="en-US" altLang="zh-CN" dirty="0"/>
              <a:t>y=y1-y0</a:t>
            </a:r>
            <a:endParaRPr lang="zh-CN" altLang="en-US" dirty="0"/>
          </a:p>
        </p:txBody>
      </p:sp>
      <p:sp>
        <p:nvSpPr>
          <p:cNvPr id="47" name="椭圆 46"/>
          <p:cNvSpPr/>
          <p:nvPr/>
        </p:nvSpPr>
        <p:spPr>
          <a:xfrm>
            <a:off x="2932022" y="2478681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l’’</a:t>
            </a:r>
            <a:endParaRPr kumimoji="1" lang="zh-CN" altLang="en-US" dirty="0"/>
          </a:p>
        </p:txBody>
      </p:sp>
      <p:sp>
        <p:nvSpPr>
          <p:cNvPr id="48" name="椭圆 47"/>
          <p:cNvSpPr/>
          <p:nvPr/>
        </p:nvSpPr>
        <p:spPr>
          <a:xfrm>
            <a:off x="4490674" y="2478781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r’’</a:t>
            </a:r>
            <a:endParaRPr kumimoji="1" lang="zh-CN" altLang="en-US" dirty="0"/>
          </a:p>
        </p:txBody>
      </p:sp>
      <p:cxnSp>
        <p:nvCxnSpPr>
          <p:cNvPr id="52" name="直线连接符 51"/>
          <p:cNvCxnSpPr/>
          <p:nvPr/>
        </p:nvCxnSpPr>
        <p:spPr>
          <a:xfrm>
            <a:off x="3703652" y="4036343"/>
            <a:ext cx="0" cy="2135614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3501582" y="6219899"/>
            <a:ext cx="347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x’</a:t>
            </a:r>
            <a:endParaRPr kumimoji="1" lang="zh-CN" altLang="en-US" dirty="0"/>
          </a:p>
        </p:txBody>
      </p:sp>
      <p:sp>
        <p:nvSpPr>
          <p:cNvPr id="59" name="文本框 58"/>
          <p:cNvSpPr txBox="1"/>
          <p:nvPr/>
        </p:nvSpPr>
        <p:spPr>
          <a:xfrm>
            <a:off x="4127444" y="6207914"/>
            <a:ext cx="404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x’’</a:t>
            </a:r>
            <a:endParaRPr kumimoji="1" lang="zh-CN" altLang="en-US" dirty="0"/>
          </a:p>
        </p:txBody>
      </p:sp>
      <p:sp>
        <p:nvSpPr>
          <p:cNvPr id="60" name="文本框 59"/>
          <p:cNvSpPr txBox="1"/>
          <p:nvPr/>
        </p:nvSpPr>
        <p:spPr>
          <a:xfrm>
            <a:off x="3500448" y="2458353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l-GR" altLang="zh-CN" dirty="0"/>
              <a:t>Δ</a:t>
            </a:r>
            <a:r>
              <a:rPr kumimoji="1" lang="en-US" altLang="zh-CN" dirty="0"/>
              <a:t>l’’</a:t>
            </a:r>
            <a:endParaRPr kumimoji="1" lang="zh-CN" altLang="en-US" dirty="0"/>
          </a:p>
        </p:txBody>
      </p:sp>
      <p:sp>
        <p:nvSpPr>
          <p:cNvPr id="62" name="文本框 61"/>
          <p:cNvSpPr txBox="1"/>
          <p:nvPr/>
        </p:nvSpPr>
        <p:spPr>
          <a:xfrm>
            <a:off x="4268474" y="2458353"/>
            <a:ext cx="520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l-GR" altLang="zh-CN" dirty="0"/>
              <a:t>Δ</a:t>
            </a:r>
            <a:r>
              <a:rPr kumimoji="1" lang="en-US" altLang="zh-CN" dirty="0"/>
              <a:t>r’’</a:t>
            </a:r>
            <a:endParaRPr kumimoji="1" lang="zh-CN" altLang="en-US" dirty="0"/>
          </a:p>
        </p:txBody>
      </p:sp>
      <p:cxnSp>
        <p:nvCxnSpPr>
          <p:cNvPr id="64" name="直线连接符 63"/>
          <p:cNvCxnSpPr/>
          <p:nvPr/>
        </p:nvCxnSpPr>
        <p:spPr>
          <a:xfrm flipV="1">
            <a:off x="3326045" y="4197649"/>
            <a:ext cx="1435330" cy="1358993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7015629" y="3315440"/>
            <a:ext cx="37596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如选择</a:t>
            </a:r>
            <a:r>
              <a:rPr kumimoji="1" lang="en-US" altLang="zh-CN" dirty="0"/>
              <a:t>r’</a:t>
            </a:r>
            <a:r>
              <a:rPr kumimoji="1" lang="zh-CN" altLang="en-US" dirty="0"/>
              <a:t>点：</a:t>
            </a:r>
            <a:r>
              <a:rPr kumimoji="1" lang="en-US" altLang="zh-CN" dirty="0"/>
              <a:t>x’=a(y+1)+b,</a:t>
            </a:r>
            <a:r>
              <a:rPr kumimoji="1" lang="zh-CN" altLang="en-US" dirty="0"/>
              <a:t> </a:t>
            </a:r>
            <a:r>
              <a:rPr kumimoji="1" lang="en-US" altLang="zh-CN" dirty="0"/>
              <a:t>x=ay+b+1,</a:t>
            </a:r>
            <a:r>
              <a:rPr kumimoji="1" lang="zh-CN" altLang="en-US" dirty="0"/>
              <a:t>  </a:t>
            </a:r>
          </a:p>
          <a:p>
            <a:r>
              <a:rPr kumimoji="1" lang="zh-CN" altLang="en-US" dirty="0"/>
              <a:t>有</a:t>
            </a:r>
            <a:r>
              <a:rPr kumimoji="1" lang="en-US" altLang="zh-CN" dirty="0"/>
              <a:t>x-x’=1-a,</a:t>
            </a:r>
            <a:r>
              <a:rPr kumimoji="1" lang="zh-CN" altLang="en-US" dirty="0"/>
              <a:t> 令偏移增量</a:t>
            </a:r>
            <a:r>
              <a:rPr kumimoji="1" lang="en-US" altLang="zh-CN" dirty="0"/>
              <a:t>f=(x-x’)</a:t>
            </a:r>
            <a:r>
              <a:rPr kumimoji="1" lang="el-GR" altLang="zh-CN" dirty="0"/>
              <a:t> </a:t>
            </a:r>
            <a:r>
              <a:rPr kumimoji="1" lang="zh-CN" altLang="en-US" dirty="0"/>
              <a:t>*</a:t>
            </a:r>
            <a:r>
              <a:rPr kumimoji="1" lang="el-GR" altLang="zh-CN" dirty="0"/>
              <a:t>Δ</a:t>
            </a:r>
            <a:r>
              <a:rPr kumimoji="1" lang="en-US" altLang="zh-CN" dirty="0"/>
              <a:t>y,</a:t>
            </a:r>
            <a:r>
              <a:rPr kumimoji="1" lang="zh-CN" altLang="en-US" dirty="0"/>
              <a:t> </a:t>
            </a:r>
          </a:p>
          <a:p>
            <a:r>
              <a:rPr kumimoji="1" lang="zh-CN" altLang="en-US" dirty="0"/>
              <a:t>则</a:t>
            </a:r>
            <a:r>
              <a:rPr kumimoji="1" lang="en-US" altLang="zh-CN" dirty="0"/>
              <a:t>f=a</a:t>
            </a:r>
            <a:r>
              <a:rPr kumimoji="1" lang="zh-CN" altLang="en-US" dirty="0"/>
              <a:t>*</a:t>
            </a:r>
            <a:r>
              <a:rPr kumimoji="1" lang="el-GR" altLang="zh-CN" dirty="0"/>
              <a:t> Δ</a:t>
            </a:r>
            <a:r>
              <a:rPr kumimoji="1" lang="en-US" altLang="zh-CN" dirty="0"/>
              <a:t>y=</a:t>
            </a:r>
            <a:r>
              <a:rPr kumimoji="1" lang="el-GR" altLang="zh-CN" dirty="0"/>
              <a:t> Δ</a:t>
            </a:r>
            <a:r>
              <a:rPr kumimoji="1" lang="en-US" altLang="zh-CN" dirty="0"/>
              <a:t>y-</a:t>
            </a:r>
            <a:r>
              <a:rPr kumimoji="1" lang="el-GR" altLang="zh-CN" dirty="0"/>
              <a:t> Δ</a:t>
            </a:r>
            <a:r>
              <a:rPr kumimoji="1" lang="en-US" altLang="zh-CN" dirty="0"/>
              <a:t>x</a:t>
            </a:r>
            <a:endParaRPr kumimoji="1" lang="zh-CN" altLang="en-US" dirty="0"/>
          </a:p>
        </p:txBody>
      </p:sp>
      <p:sp>
        <p:nvSpPr>
          <p:cNvPr id="66" name="弧 65"/>
          <p:cNvSpPr/>
          <p:nvPr/>
        </p:nvSpPr>
        <p:spPr>
          <a:xfrm>
            <a:off x="3250946" y="5104149"/>
            <a:ext cx="354233" cy="367239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弧 66"/>
          <p:cNvSpPr/>
          <p:nvPr/>
        </p:nvSpPr>
        <p:spPr>
          <a:xfrm>
            <a:off x="2959468" y="5091788"/>
            <a:ext cx="344157" cy="147827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3435425" y="4812582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</a:t>
            </a:r>
            <a:endParaRPr kumimoji="1" lang="zh-CN" altLang="en-US" dirty="0"/>
          </a:p>
        </p:txBody>
      </p:sp>
      <p:sp>
        <p:nvSpPr>
          <p:cNvPr id="69" name="文本框 68"/>
          <p:cNvSpPr txBox="1"/>
          <p:nvPr/>
        </p:nvSpPr>
        <p:spPr>
          <a:xfrm>
            <a:off x="3153047" y="4809388"/>
            <a:ext cx="325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f’</a:t>
            </a:r>
            <a:endParaRPr kumimoji="1" lang="zh-CN" altLang="en-US" dirty="0"/>
          </a:p>
        </p:txBody>
      </p:sp>
      <p:sp>
        <p:nvSpPr>
          <p:cNvPr id="70" name="文本框 69"/>
          <p:cNvSpPr txBox="1"/>
          <p:nvPr/>
        </p:nvSpPr>
        <p:spPr>
          <a:xfrm>
            <a:off x="7015629" y="4407549"/>
            <a:ext cx="35331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如选择</a:t>
            </a:r>
            <a:r>
              <a:rPr kumimoji="1" lang="en-US" altLang="zh-CN" dirty="0"/>
              <a:t>l’</a:t>
            </a:r>
            <a:r>
              <a:rPr kumimoji="1" lang="zh-CN" altLang="en-US" dirty="0"/>
              <a:t>点：</a:t>
            </a:r>
            <a:r>
              <a:rPr kumimoji="1" lang="en-US" altLang="zh-CN" dirty="0"/>
              <a:t>x’=a(y+1)+b,</a:t>
            </a:r>
            <a:r>
              <a:rPr kumimoji="1" lang="zh-CN" altLang="en-US" dirty="0"/>
              <a:t> </a:t>
            </a:r>
            <a:r>
              <a:rPr kumimoji="1" lang="en-US" altLang="zh-CN" dirty="0"/>
              <a:t>x=</a:t>
            </a:r>
            <a:r>
              <a:rPr kumimoji="1" lang="en-US" altLang="zh-CN" dirty="0" err="1"/>
              <a:t>ay+b</a:t>
            </a:r>
            <a:r>
              <a:rPr kumimoji="1" lang="en-US" altLang="zh-CN" dirty="0"/>
              <a:t>,</a:t>
            </a:r>
            <a:r>
              <a:rPr kumimoji="1" lang="zh-CN" altLang="en-US" dirty="0"/>
              <a:t>  </a:t>
            </a:r>
          </a:p>
          <a:p>
            <a:r>
              <a:rPr kumimoji="1" lang="zh-CN" altLang="en-US" dirty="0"/>
              <a:t>有</a:t>
            </a:r>
            <a:r>
              <a:rPr kumimoji="1" lang="en-US" altLang="zh-CN" dirty="0"/>
              <a:t>x-x’=-a,</a:t>
            </a:r>
            <a:r>
              <a:rPr kumimoji="1" lang="zh-CN" altLang="en-US" dirty="0"/>
              <a:t> 令偏移增量</a:t>
            </a:r>
            <a:r>
              <a:rPr kumimoji="1" lang="en-US" altLang="zh-CN" dirty="0"/>
              <a:t>f’=(x-x’)</a:t>
            </a:r>
            <a:r>
              <a:rPr kumimoji="1" lang="el-GR" altLang="zh-CN" dirty="0"/>
              <a:t> </a:t>
            </a:r>
            <a:r>
              <a:rPr kumimoji="1" lang="zh-CN" altLang="en-US" dirty="0"/>
              <a:t>*</a:t>
            </a:r>
            <a:r>
              <a:rPr kumimoji="1" lang="el-GR" altLang="zh-CN" dirty="0"/>
              <a:t>Δ</a:t>
            </a:r>
            <a:r>
              <a:rPr kumimoji="1" lang="en-US" altLang="zh-CN" dirty="0"/>
              <a:t>y,</a:t>
            </a:r>
            <a:r>
              <a:rPr kumimoji="1" lang="zh-CN" altLang="en-US" dirty="0"/>
              <a:t> </a:t>
            </a:r>
          </a:p>
          <a:p>
            <a:r>
              <a:rPr kumimoji="1" lang="zh-CN" altLang="en-US" dirty="0"/>
              <a:t>则</a:t>
            </a:r>
            <a:r>
              <a:rPr kumimoji="1" lang="en-US" altLang="zh-CN" dirty="0"/>
              <a:t>f’=(-a)</a:t>
            </a:r>
            <a:r>
              <a:rPr kumimoji="1" lang="zh-CN" altLang="en-US" dirty="0"/>
              <a:t>*</a:t>
            </a:r>
            <a:r>
              <a:rPr kumimoji="1" lang="el-GR" altLang="zh-CN" dirty="0"/>
              <a:t> Δ</a:t>
            </a:r>
            <a:r>
              <a:rPr kumimoji="1" lang="en-US" altLang="zh-CN" dirty="0"/>
              <a:t>y=</a:t>
            </a:r>
            <a:r>
              <a:rPr kumimoji="1" lang="el-GR" altLang="zh-CN" dirty="0"/>
              <a:t> </a:t>
            </a:r>
            <a:r>
              <a:rPr kumimoji="1" lang="en-US" altLang="zh-CN" dirty="0"/>
              <a:t>-</a:t>
            </a:r>
            <a:r>
              <a:rPr kumimoji="1" lang="el-GR" altLang="zh-CN" dirty="0"/>
              <a:t> Δ</a:t>
            </a:r>
            <a:r>
              <a:rPr kumimoji="1" lang="en-US" altLang="zh-CN" dirty="0"/>
              <a:t>x</a:t>
            </a:r>
            <a:endParaRPr kumimoji="1" lang="zh-CN" altLang="en-US" dirty="0"/>
          </a:p>
        </p:txBody>
      </p:sp>
      <p:sp>
        <p:nvSpPr>
          <p:cNvPr id="71" name="文本框 70"/>
          <p:cNvSpPr txBox="1"/>
          <p:nvPr/>
        </p:nvSpPr>
        <p:spPr>
          <a:xfrm>
            <a:off x="7015629" y="2500330"/>
            <a:ext cx="4565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将</a:t>
            </a:r>
            <a:r>
              <a:rPr kumimoji="1" lang="en-US" altLang="zh-CN" dirty="0"/>
              <a:t>a=</a:t>
            </a:r>
            <a:r>
              <a:rPr kumimoji="1" lang="el-GR" altLang="zh-CN" dirty="0"/>
              <a:t> Δ</a:t>
            </a:r>
            <a:r>
              <a:rPr kumimoji="1" lang="en-US" altLang="zh-CN" dirty="0"/>
              <a:t>x/</a:t>
            </a:r>
            <a:r>
              <a:rPr kumimoji="1" lang="el-GR" altLang="zh-CN" dirty="0"/>
              <a:t> Δ</a:t>
            </a:r>
            <a:r>
              <a:rPr kumimoji="1" lang="en-US" altLang="zh-CN" dirty="0"/>
              <a:t>y,</a:t>
            </a:r>
            <a:r>
              <a:rPr kumimoji="1" lang="zh-CN" altLang="en-US" dirty="0"/>
              <a:t> </a:t>
            </a:r>
            <a:r>
              <a:rPr kumimoji="1" lang="en-US" altLang="zh-CN" dirty="0"/>
              <a:t>x=</a:t>
            </a:r>
            <a:r>
              <a:rPr kumimoji="1" lang="en-US" altLang="zh-CN" dirty="0" err="1"/>
              <a:t>ay+b</a:t>
            </a:r>
            <a:r>
              <a:rPr kumimoji="1" lang="zh-CN" altLang="en-US" dirty="0"/>
              <a:t>代入上式，</a:t>
            </a:r>
          </a:p>
          <a:p>
            <a:r>
              <a:rPr kumimoji="1" lang="zh-CN" altLang="en-US" dirty="0"/>
              <a:t>则</a:t>
            </a:r>
            <a:r>
              <a:rPr kumimoji="1" lang="en-US" altLang="zh-CN" dirty="0"/>
              <a:t>(</a:t>
            </a:r>
            <a:r>
              <a:rPr kumimoji="1" lang="el-GR" altLang="zh-CN" dirty="0"/>
              <a:t>Δ</a:t>
            </a:r>
            <a:r>
              <a:rPr kumimoji="1" lang="en-US" altLang="zh-CN" dirty="0"/>
              <a:t>r’-</a:t>
            </a:r>
            <a:r>
              <a:rPr kumimoji="1" lang="el-GR" altLang="zh-CN" dirty="0"/>
              <a:t>Δ</a:t>
            </a:r>
            <a:r>
              <a:rPr kumimoji="1" lang="en-US" altLang="zh-CN" dirty="0"/>
              <a:t>l’)</a:t>
            </a:r>
            <a:r>
              <a:rPr kumimoji="1" lang="el-GR" altLang="zh-CN" dirty="0"/>
              <a:t> Δ</a:t>
            </a:r>
            <a:r>
              <a:rPr kumimoji="1" lang="en-US" altLang="zh-CN" dirty="0"/>
              <a:t>y=</a:t>
            </a:r>
            <a:r>
              <a:rPr kumimoji="1" lang="el-GR" altLang="zh-CN" dirty="0"/>
              <a:t> Δ</a:t>
            </a:r>
            <a:r>
              <a:rPr kumimoji="1" lang="en-US" altLang="zh-CN" dirty="0"/>
              <a:t>y-2</a:t>
            </a:r>
            <a:r>
              <a:rPr kumimoji="1" lang="el-GR" altLang="zh-CN" dirty="0"/>
              <a:t>Δ</a:t>
            </a:r>
            <a:r>
              <a:rPr kumimoji="1" lang="en-US" altLang="zh-CN" dirty="0"/>
              <a:t>x</a:t>
            </a:r>
            <a:endParaRPr kumimoji="1" lang="zh-CN" altLang="en-US" dirty="0"/>
          </a:p>
        </p:txBody>
      </p:sp>
      <p:sp>
        <p:nvSpPr>
          <p:cNvPr id="72" name="文本框 71"/>
          <p:cNvSpPr txBox="1"/>
          <p:nvPr/>
        </p:nvSpPr>
        <p:spPr>
          <a:xfrm>
            <a:off x="7015629" y="5457713"/>
            <a:ext cx="35055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判断：初始化</a:t>
            </a:r>
            <a:r>
              <a:rPr kumimoji="1" lang="en-US" altLang="zh-CN" dirty="0"/>
              <a:t>f=0,</a:t>
            </a:r>
            <a:r>
              <a:rPr kumimoji="1" lang="zh-CN" altLang="en-US" dirty="0"/>
              <a:t> 如</a:t>
            </a:r>
            <a:r>
              <a:rPr kumimoji="1" lang="en-US" altLang="zh-CN" dirty="0"/>
              <a:t>f=</a:t>
            </a:r>
            <a:r>
              <a:rPr kumimoji="1" lang="el-GR" altLang="zh-CN" dirty="0"/>
              <a:t>Δ</a:t>
            </a:r>
            <a:r>
              <a:rPr kumimoji="1" lang="en-US" altLang="zh-CN" dirty="0"/>
              <a:t>y-2</a:t>
            </a:r>
            <a:r>
              <a:rPr kumimoji="1" lang="el-GR" altLang="zh-CN" dirty="0"/>
              <a:t>Δ</a:t>
            </a:r>
            <a:r>
              <a:rPr kumimoji="1" lang="en-US" altLang="zh-CN" dirty="0"/>
              <a:t>x&gt;0,</a:t>
            </a:r>
            <a:r>
              <a:rPr kumimoji="1" lang="zh-CN" altLang="en-US" dirty="0"/>
              <a:t> </a:t>
            </a:r>
          </a:p>
          <a:p>
            <a:r>
              <a:rPr kumimoji="1" lang="zh-CN" altLang="en-US" dirty="0"/>
              <a:t>则选</a:t>
            </a:r>
            <a:r>
              <a:rPr kumimoji="1" lang="en-US" altLang="zh-CN" dirty="0"/>
              <a:t>l</a:t>
            </a:r>
            <a:r>
              <a:rPr kumimoji="1" lang="zh-CN" altLang="en-US" dirty="0"/>
              <a:t>点</a:t>
            </a:r>
            <a:r>
              <a:rPr kumimoji="1" lang="en-US" altLang="zh-CN" dirty="0"/>
              <a:t>(x,y+1),</a:t>
            </a:r>
            <a:r>
              <a:rPr kumimoji="1" lang="zh-CN" altLang="en-US" dirty="0"/>
              <a:t> </a:t>
            </a:r>
            <a:r>
              <a:rPr kumimoji="1" lang="en-US" altLang="zh-CN" dirty="0"/>
              <a:t>f+=-</a:t>
            </a:r>
            <a:r>
              <a:rPr kumimoji="1" lang="el-GR" altLang="zh-CN" dirty="0"/>
              <a:t>Δ</a:t>
            </a:r>
            <a:r>
              <a:rPr kumimoji="1" lang="en-US" altLang="zh-CN" dirty="0"/>
              <a:t>x,</a:t>
            </a:r>
            <a:r>
              <a:rPr kumimoji="1" lang="zh-CN" altLang="en-US" dirty="0"/>
              <a:t> </a:t>
            </a:r>
          </a:p>
          <a:p>
            <a:r>
              <a:rPr kumimoji="1" lang="zh-CN" altLang="en-US" dirty="0"/>
              <a:t>否则选</a:t>
            </a:r>
            <a:r>
              <a:rPr kumimoji="1" lang="en-US" altLang="zh-CN" dirty="0"/>
              <a:t>r</a:t>
            </a:r>
            <a:r>
              <a:rPr kumimoji="1" lang="zh-CN" altLang="en-US" dirty="0"/>
              <a:t>点</a:t>
            </a:r>
            <a:r>
              <a:rPr kumimoji="1" lang="en-US" altLang="zh-CN" dirty="0"/>
              <a:t>(x+1,y+1),</a:t>
            </a:r>
            <a:r>
              <a:rPr kumimoji="1" lang="zh-CN" altLang="en-US" dirty="0"/>
              <a:t> </a:t>
            </a:r>
            <a:r>
              <a:rPr kumimoji="1" lang="en-US" altLang="zh-CN" dirty="0"/>
              <a:t>f+=</a:t>
            </a:r>
            <a:r>
              <a:rPr kumimoji="1" lang="el-GR" altLang="zh-CN" dirty="0"/>
              <a:t> Δ</a:t>
            </a:r>
            <a:r>
              <a:rPr kumimoji="1" lang="en-US" altLang="zh-CN" dirty="0"/>
              <a:t>y</a:t>
            </a:r>
            <a:r>
              <a:rPr kumimoji="1" lang="el-GR" altLang="zh-CN" dirty="0"/>
              <a:t> </a:t>
            </a:r>
            <a:r>
              <a:rPr kumimoji="1" lang="en-US" altLang="zh-CN" dirty="0"/>
              <a:t>-</a:t>
            </a:r>
            <a:r>
              <a:rPr kumimoji="1" lang="el-GR" altLang="zh-CN" dirty="0"/>
              <a:t> Δ</a:t>
            </a:r>
            <a:r>
              <a:rPr kumimoji="1" lang="en-US" altLang="zh-CN" dirty="0"/>
              <a:t>x</a:t>
            </a:r>
            <a:endParaRPr kumimoji="1" lang="zh-CN" altLang="en-US" dirty="0"/>
          </a:p>
        </p:txBody>
      </p:sp>
      <p:cxnSp>
        <p:nvCxnSpPr>
          <p:cNvPr id="61" name="直线连接符 60"/>
          <p:cNvCxnSpPr/>
          <p:nvPr/>
        </p:nvCxnSpPr>
        <p:spPr>
          <a:xfrm>
            <a:off x="1850277" y="6200866"/>
            <a:ext cx="431314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连接符 62"/>
          <p:cNvCxnSpPr/>
          <p:nvPr/>
        </p:nvCxnSpPr>
        <p:spPr>
          <a:xfrm>
            <a:off x="3190624" y="2813912"/>
            <a:ext cx="1739664" cy="25840"/>
          </a:xfrm>
          <a:prstGeom prst="line">
            <a:avLst/>
          </a:prstGeom>
          <a:ln w="127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线连接符 72"/>
          <p:cNvCxnSpPr/>
          <p:nvPr/>
        </p:nvCxnSpPr>
        <p:spPr>
          <a:xfrm>
            <a:off x="4268681" y="2417254"/>
            <a:ext cx="0" cy="378337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线连接符 73"/>
          <p:cNvCxnSpPr/>
          <p:nvPr/>
        </p:nvCxnSpPr>
        <p:spPr>
          <a:xfrm flipV="1">
            <a:off x="3150900" y="4215214"/>
            <a:ext cx="15521" cy="1392155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/>
          <p:cNvSpPr txBox="1"/>
          <p:nvPr/>
        </p:nvSpPr>
        <p:spPr>
          <a:xfrm>
            <a:off x="398196" y="1408194"/>
            <a:ext cx="14554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a=(</a:t>
            </a:r>
            <a:r>
              <a:rPr kumimoji="1" lang="el-GR" altLang="zh-CN" sz="2000" dirty="0"/>
              <a:t>Δ</a:t>
            </a:r>
            <a:r>
              <a:rPr kumimoji="1" lang="en-US" altLang="zh-CN" sz="2000" dirty="0"/>
              <a:t>x/</a:t>
            </a:r>
            <a:r>
              <a:rPr kumimoji="1" lang="el-GR" altLang="zh-CN" sz="2000" dirty="0"/>
              <a:t>Δ</a:t>
            </a:r>
            <a:r>
              <a:rPr kumimoji="1" lang="en-US" altLang="zh-CN" sz="2000" dirty="0"/>
              <a:t>y)&lt;1</a:t>
            </a:r>
            <a:endParaRPr kumimoji="1" lang="zh-CN" altLang="en-US" sz="2000" dirty="0"/>
          </a:p>
        </p:txBody>
      </p:sp>
      <p:sp>
        <p:nvSpPr>
          <p:cNvPr id="76" name="文本框 75"/>
          <p:cNvSpPr txBox="1"/>
          <p:nvPr/>
        </p:nvSpPr>
        <p:spPr>
          <a:xfrm>
            <a:off x="1875772" y="5318486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y</a:t>
            </a:r>
            <a:endParaRPr kumimoji="1" lang="zh-CN" altLang="en-US" dirty="0"/>
          </a:p>
        </p:txBody>
      </p:sp>
      <p:sp>
        <p:nvSpPr>
          <p:cNvPr id="77" name="文本框 76"/>
          <p:cNvSpPr txBox="1"/>
          <p:nvPr/>
        </p:nvSpPr>
        <p:spPr>
          <a:xfrm>
            <a:off x="410474" y="644290"/>
            <a:ext cx="27190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y</a:t>
            </a:r>
            <a:r>
              <a:rPr kumimoji="1" lang="zh-CN" altLang="en-US" sz="2000" dirty="0"/>
              <a:t>为自变量，</a:t>
            </a:r>
            <a:r>
              <a:rPr kumimoji="1" lang="en-US" altLang="zh-CN" sz="2000" dirty="0"/>
              <a:t>x</a:t>
            </a:r>
            <a:r>
              <a:rPr kumimoji="1" lang="zh-CN" altLang="en-US" sz="2000" dirty="0"/>
              <a:t>为因变量</a:t>
            </a:r>
          </a:p>
        </p:txBody>
      </p:sp>
    </p:spTree>
    <p:extLst>
      <p:ext uri="{BB962C8B-B14F-4D97-AF65-F5344CB8AC3E}">
        <p14:creationId xmlns:p14="http://schemas.microsoft.com/office/powerpoint/2010/main" val="1682828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93121" y="181819"/>
            <a:ext cx="35223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err="1"/>
              <a:t>Bresenham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Alogorithm</a:t>
            </a:r>
            <a:r>
              <a:rPr lang="en-US" altLang="zh-CN" sz="2000" b="1" dirty="0"/>
              <a:t>: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ellipse</a:t>
            </a:r>
            <a:r>
              <a:rPr lang="zh-CN" altLang="en-US" sz="2000" b="1" dirty="0"/>
              <a:t> </a:t>
            </a:r>
          </a:p>
        </p:txBody>
      </p:sp>
      <p:sp>
        <p:nvSpPr>
          <p:cNvPr id="4" name="弧 3"/>
          <p:cNvSpPr/>
          <p:nvPr/>
        </p:nvSpPr>
        <p:spPr>
          <a:xfrm>
            <a:off x="-2519653" y="1948935"/>
            <a:ext cx="7210186" cy="6825866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" name="直线连接符 6"/>
          <p:cNvCxnSpPr/>
          <p:nvPr/>
        </p:nvCxnSpPr>
        <p:spPr>
          <a:xfrm>
            <a:off x="1071894" y="897467"/>
            <a:ext cx="0" cy="4277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/>
          <p:cNvCxnSpPr/>
          <p:nvPr/>
        </p:nvCxnSpPr>
        <p:spPr>
          <a:xfrm>
            <a:off x="1071894" y="5174801"/>
            <a:ext cx="46346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820532" y="1658463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</a:t>
            </a:r>
            <a:endParaRPr kumimoji="1" lang="zh-CN" altLang="en-US" dirty="0"/>
          </a:p>
        </p:txBody>
      </p:sp>
      <p:sp>
        <p:nvSpPr>
          <p:cNvPr id="14" name="椭圆 13"/>
          <p:cNvSpPr/>
          <p:nvPr/>
        </p:nvSpPr>
        <p:spPr>
          <a:xfrm>
            <a:off x="4410348" y="4904801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e</a:t>
            </a:r>
            <a:endParaRPr kumimoji="1" lang="zh-CN" altLang="en-US" dirty="0"/>
          </a:p>
        </p:txBody>
      </p:sp>
      <p:cxnSp>
        <p:nvCxnSpPr>
          <p:cNvPr id="16" name="直线连接符 15"/>
          <p:cNvCxnSpPr/>
          <p:nvPr/>
        </p:nvCxnSpPr>
        <p:spPr>
          <a:xfrm>
            <a:off x="1071894" y="1930398"/>
            <a:ext cx="4803973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/>
          <p:cNvCxnSpPr/>
          <p:nvPr/>
        </p:nvCxnSpPr>
        <p:spPr>
          <a:xfrm>
            <a:off x="2404536" y="1574801"/>
            <a:ext cx="33867" cy="360000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/>
          <p:cNvCxnSpPr/>
          <p:nvPr/>
        </p:nvCxnSpPr>
        <p:spPr>
          <a:xfrm>
            <a:off x="1071894" y="2997203"/>
            <a:ext cx="4803973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/>
          <p:cNvSpPr/>
          <p:nvPr/>
        </p:nvSpPr>
        <p:spPr>
          <a:xfrm>
            <a:off x="2168403" y="1643465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u</a:t>
            </a:r>
            <a:endParaRPr kumimoji="1" lang="zh-CN" altLang="en-US" dirty="0"/>
          </a:p>
        </p:txBody>
      </p:sp>
      <p:sp>
        <p:nvSpPr>
          <p:cNvPr id="21" name="椭圆 20"/>
          <p:cNvSpPr/>
          <p:nvPr/>
        </p:nvSpPr>
        <p:spPr>
          <a:xfrm>
            <a:off x="2151470" y="2696534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</a:t>
            </a:r>
            <a:endParaRPr kumimoji="1" lang="zh-CN" altLang="en-US" dirty="0"/>
          </a:p>
        </p:txBody>
      </p:sp>
      <p:cxnSp>
        <p:nvCxnSpPr>
          <p:cNvPr id="22" name="直线连接符 21"/>
          <p:cNvCxnSpPr/>
          <p:nvPr/>
        </p:nvCxnSpPr>
        <p:spPr>
          <a:xfrm>
            <a:off x="1106040" y="2200399"/>
            <a:ext cx="4803973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2191915" y="5260135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x</a:t>
            </a:r>
            <a:r>
              <a:rPr kumimoji="1" lang="en-US" altLang="zh-CN"/>
              <a:t>+1</a:t>
            </a:r>
            <a:endParaRPr kumimoji="1" lang="zh-CN" alt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549191" y="2846403"/>
            <a:ext cx="471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y-1</a:t>
            </a:r>
            <a:endParaRPr kumimoji="1"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0" y="1364801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(x0,y0)</a:t>
            </a:r>
            <a:endParaRPr kumimoji="1"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4269817" y="5444801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(x1,y1)</a:t>
            </a:r>
            <a:endParaRPr kumimoji="1"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575785" y="2033604"/>
            <a:ext cx="353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y’</a:t>
            </a:r>
            <a:endParaRPr kumimoji="1"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2358404" y="2202261"/>
            <a:ext cx="497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det</a:t>
            </a:r>
            <a:endParaRPr kumimoji="1" lang="zh-CN" altLang="en-US" dirty="0"/>
          </a:p>
        </p:txBody>
      </p:sp>
      <p:sp>
        <p:nvSpPr>
          <p:cNvPr id="39" name="文本框 38"/>
          <p:cNvSpPr txBox="1"/>
          <p:nvPr/>
        </p:nvSpPr>
        <p:spPr>
          <a:xfrm>
            <a:off x="2719495" y="5781862"/>
            <a:ext cx="385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/>
              <a:t>rx</a:t>
            </a:r>
            <a:endParaRPr kumimoji="1" lang="zh-CN" altLang="en-US" sz="2000" dirty="0"/>
          </a:p>
        </p:txBody>
      </p:sp>
      <p:sp>
        <p:nvSpPr>
          <p:cNvPr id="41" name="文本框 40"/>
          <p:cNvSpPr txBox="1"/>
          <p:nvPr/>
        </p:nvSpPr>
        <p:spPr>
          <a:xfrm>
            <a:off x="56055" y="3522134"/>
            <a:ext cx="390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 err="1"/>
              <a:t>ry</a:t>
            </a:r>
            <a:endParaRPr kumimoji="1" lang="zh-CN" altLang="en-US" sz="2000" dirty="0"/>
          </a:p>
        </p:txBody>
      </p:sp>
      <p:cxnSp>
        <p:nvCxnSpPr>
          <p:cNvPr id="43" name="直线箭头连接符 42"/>
          <p:cNvCxnSpPr/>
          <p:nvPr/>
        </p:nvCxnSpPr>
        <p:spPr>
          <a:xfrm>
            <a:off x="1106040" y="5829522"/>
            <a:ext cx="358449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箭头连接符 44"/>
          <p:cNvCxnSpPr/>
          <p:nvPr/>
        </p:nvCxnSpPr>
        <p:spPr>
          <a:xfrm>
            <a:off x="410529" y="1913465"/>
            <a:ext cx="0" cy="32613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6340276" y="1350135"/>
            <a:ext cx="54154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令：</a:t>
            </a:r>
            <a:r>
              <a:rPr lang="en-US" altLang="zh-CN" dirty="0" err="1"/>
              <a:t>dif</a:t>
            </a:r>
            <a:r>
              <a:rPr lang="en-US" altLang="zh-CN" dirty="0"/>
              <a:t> = (x + 1)^2 * ry^2 + (y - 1)^2 * rx^2 - rx^2 * ry^2</a:t>
            </a:r>
            <a:endParaRPr lang="zh-CN" altLang="en-US" dirty="0"/>
          </a:p>
        </p:txBody>
      </p:sp>
      <p:sp>
        <p:nvSpPr>
          <p:cNvPr id="48" name="文本框 47"/>
          <p:cNvSpPr txBox="1"/>
          <p:nvPr/>
        </p:nvSpPr>
        <p:spPr>
          <a:xfrm>
            <a:off x="6340276" y="1866072"/>
            <a:ext cx="540147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如果</a:t>
            </a:r>
            <a:r>
              <a:rPr kumimoji="1" lang="en-US" altLang="zh-CN" dirty="0" err="1"/>
              <a:t>dif</a:t>
            </a:r>
            <a:r>
              <a:rPr kumimoji="1" lang="en-US" altLang="zh-CN" dirty="0"/>
              <a:t>&lt;0,</a:t>
            </a:r>
            <a:r>
              <a:rPr kumimoji="1" lang="zh-CN" altLang="en-US" dirty="0"/>
              <a:t>说明弧线在</a:t>
            </a:r>
            <a:r>
              <a:rPr kumimoji="1" lang="en-US" altLang="zh-CN" dirty="0"/>
              <a:t>u</a:t>
            </a:r>
            <a:r>
              <a:rPr kumimoji="1" lang="zh-CN" altLang="en-US" dirty="0"/>
              <a:t>和</a:t>
            </a:r>
            <a:r>
              <a:rPr kumimoji="1" lang="en-US" altLang="zh-CN" dirty="0"/>
              <a:t>l</a:t>
            </a:r>
            <a:r>
              <a:rPr kumimoji="1" lang="zh-CN" altLang="en-US" dirty="0"/>
              <a:t>之间穿过，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令：</a:t>
            </a:r>
            <a:r>
              <a:rPr kumimoji="1" lang="da-DK" altLang="zh-CN" dirty="0"/>
              <a:t>det = |(x + 1)^2 * ry^2 + (y)^2 * rx^2 - rx^2 * ry^2|</a:t>
            </a:r>
            <a:endParaRPr kumimoji="1" lang="zh-CN" altLang="en-US" dirty="0"/>
          </a:p>
          <a:p>
            <a:pPr>
              <a:lnSpc>
                <a:spcPct val="150000"/>
              </a:lnSpc>
            </a:pPr>
            <a:r>
              <a:rPr kumimoji="1" lang="da-DK" altLang="zh-CN" dirty="0"/>
              <a:t> - |(x + 1)^2 * ry^2 + (y - 1)^2 * rx^2 - rx^2 * ry^2| </a:t>
            </a:r>
            <a:endParaRPr kumimoji="1" lang="zh-CN" altLang="en-US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代入</a:t>
            </a:r>
            <a:r>
              <a:rPr kumimoji="1" lang="en-US" altLang="zh-CN" dirty="0" err="1"/>
              <a:t>dif</a:t>
            </a:r>
            <a:r>
              <a:rPr kumimoji="1" lang="en-US" altLang="zh-CN" dirty="0"/>
              <a:t>,</a:t>
            </a:r>
            <a:r>
              <a:rPr kumimoji="1" lang="zh-CN" altLang="en-US" dirty="0"/>
              <a:t>则</a:t>
            </a:r>
            <a:r>
              <a:rPr kumimoji="1" lang="en-US" altLang="zh-CN" dirty="0" err="1"/>
              <a:t>det</a:t>
            </a:r>
            <a:r>
              <a:rPr kumimoji="1" lang="en-US" altLang="zh-CN" dirty="0"/>
              <a:t>=</a:t>
            </a:r>
            <a:r>
              <a:rPr kumimoji="1" lang="es-ES_tradnl" altLang="zh-CN" dirty="0"/>
              <a:t>2 * (</a:t>
            </a:r>
            <a:r>
              <a:rPr kumimoji="1" lang="es-ES_tradnl" altLang="zh-CN" dirty="0" err="1"/>
              <a:t>dif</a:t>
            </a:r>
            <a:r>
              <a:rPr kumimoji="1" lang="es-ES_tradnl" altLang="zh-CN" dirty="0"/>
              <a:t> + y0 * rx^2) -  rx^2</a:t>
            </a:r>
            <a:endParaRPr kumimoji="1" lang="zh-CN" altLang="en-US" dirty="0"/>
          </a:p>
        </p:txBody>
      </p:sp>
      <p:sp>
        <p:nvSpPr>
          <p:cNvPr id="49" name="文本框 48"/>
          <p:cNvSpPr txBox="1"/>
          <p:nvPr/>
        </p:nvSpPr>
        <p:spPr>
          <a:xfrm>
            <a:off x="6367897" y="3690475"/>
            <a:ext cx="3505640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判断：选择下一个点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x’,y</a:t>
            </a:r>
            <a:r>
              <a:rPr kumimoji="1" lang="en-US" altLang="zh-CN" dirty="0"/>
              <a:t>’)</a:t>
            </a:r>
            <a:endParaRPr kumimoji="1" lang="zh-CN" altLang="en-US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如果</a:t>
            </a:r>
            <a:r>
              <a:rPr kumimoji="1" lang="en-US" altLang="zh-CN" dirty="0" err="1"/>
              <a:t>det</a:t>
            </a:r>
            <a:r>
              <a:rPr kumimoji="1" lang="en-US" altLang="zh-CN" dirty="0"/>
              <a:t>&lt;0,</a:t>
            </a:r>
            <a:r>
              <a:rPr kumimoji="1" lang="zh-CN" altLang="en-US" dirty="0"/>
              <a:t> 则选</a:t>
            </a:r>
            <a:r>
              <a:rPr kumimoji="1" lang="en-US" altLang="zh-CN" dirty="0"/>
              <a:t>u</a:t>
            </a:r>
            <a:r>
              <a:rPr kumimoji="1" lang="zh-CN" altLang="en-US" dirty="0"/>
              <a:t>点，</a:t>
            </a:r>
            <a:r>
              <a:rPr kumimoji="1" lang="en-US" altLang="zh-CN" dirty="0"/>
              <a:t>x’=x+1,</a:t>
            </a:r>
            <a:r>
              <a:rPr kumimoji="1" lang="zh-CN" altLang="en-US" dirty="0"/>
              <a:t> </a:t>
            </a:r>
            <a:r>
              <a:rPr kumimoji="1" lang="en-US" altLang="zh-CN" dirty="0"/>
              <a:t>y’=y;</a:t>
            </a:r>
            <a:endParaRPr kumimoji="1" lang="zh-CN" altLang="en-US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否则选</a:t>
            </a:r>
            <a:r>
              <a:rPr kumimoji="1" lang="en-US" altLang="zh-CN" dirty="0"/>
              <a:t>l</a:t>
            </a:r>
            <a:r>
              <a:rPr kumimoji="1" lang="zh-CN" altLang="en-US" dirty="0"/>
              <a:t>点，</a:t>
            </a:r>
            <a:r>
              <a:rPr kumimoji="1" lang="en-US" altLang="zh-CN" dirty="0"/>
              <a:t>x’=x+1,</a:t>
            </a:r>
            <a:r>
              <a:rPr kumimoji="1" lang="zh-CN" altLang="en-US" dirty="0"/>
              <a:t> </a:t>
            </a:r>
            <a:r>
              <a:rPr kumimoji="1" lang="en-US" altLang="zh-CN" dirty="0"/>
              <a:t>y’=y-1;</a:t>
            </a:r>
            <a:endParaRPr kumimoji="1" lang="zh-CN" altLang="en-US" dirty="0"/>
          </a:p>
        </p:txBody>
      </p:sp>
      <p:cxnSp>
        <p:nvCxnSpPr>
          <p:cNvPr id="51" name="直线连接符 50"/>
          <p:cNvCxnSpPr/>
          <p:nvPr/>
        </p:nvCxnSpPr>
        <p:spPr>
          <a:xfrm flipV="1">
            <a:off x="1071894" y="2233800"/>
            <a:ext cx="1332642" cy="29410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/>
          <p:cNvCxnSpPr/>
          <p:nvPr/>
        </p:nvCxnSpPr>
        <p:spPr>
          <a:xfrm flipV="1">
            <a:off x="1085440" y="2997203"/>
            <a:ext cx="1317802" cy="21929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1793515" y="3297873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dif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0459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93121" y="181819"/>
            <a:ext cx="35223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err="1"/>
              <a:t>Bresenham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Alogorithm</a:t>
            </a:r>
            <a:r>
              <a:rPr lang="en-US" altLang="zh-CN" sz="2000" b="1" dirty="0"/>
              <a:t>: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ellipse</a:t>
            </a:r>
            <a:r>
              <a:rPr lang="zh-CN" altLang="en-US" sz="2000" b="1" dirty="0"/>
              <a:t> </a:t>
            </a:r>
          </a:p>
        </p:txBody>
      </p:sp>
      <p:cxnSp>
        <p:nvCxnSpPr>
          <p:cNvPr id="7" name="直线连接符 6"/>
          <p:cNvCxnSpPr/>
          <p:nvPr/>
        </p:nvCxnSpPr>
        <p:spPr>
          <a:xfrm>
            <a:off x="1071894" y="897467"/>
            <a:ext cx="0" cy="4277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/>
          <p:cNvCxnSpPr/>
          <p:nvPr/>
        </p:nvCxnSpPr>
        <p:spPr>
          <a:xfrm>
            <a:off x="1071894" y="5174801"/>
            <a:ext cx="46346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820532" y="1658463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</a:t>
            </a:r>
            <a:endParaRPr kumimoji="1" lang="zh-CN" altLang="en-US" dirty="0"/>
          </a:p>
        </p:txBody>
      </p:sp>
      <p:sp>
        <p:nvSpPr>
          <p:cNvPr id="14" name="椭圆 13"/>
          <p:cNvSpPr/>
          <p:nvPr/>
        </p:nvSpPr>
        <p:spPr>
          <a:xfrm>
            <a:off x="3039534" y="4904801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e</a:t>
            </a:r>
            <a:endParaRPr kumimoji="1" lang="zh-CN" altLang="en-US" dirty="0"/>
          </a:p>
        </p:txBody>
      </p:sp>
      <p:cxnSp>
        <p:nvCxnSpPr>
          <p:cNvPr id="18" name="直线连接符 17"/>
          <p:cNvCxnSpPr/>
          <p:nvPr/>
        </p:nvCxnSpPr>
        <p:spPr>
          <a:xfrm>
            <a:off x="2997200" y="1574801"/>
            <a:ext cx="33867" cy="360000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/>
          <p:cNvCxnSpPr/>
          <p:nvPr/>
        </p:nvCxnSpPr>
        <p:spPr>
          <a:xfrm>
            <a:off x="1071894" y="2997203"/>
            <a:ext cx="4803973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/>
          <p:cNvSpPr/>
          <p:nvPr/>
        </p:nvSpPr>
        <p:spPr>
          <a:xfrm>
            <a:off x="836040" y="2670054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</a:t>
            </a:r>
            <a:endParaRPr kumimoji="1" lang="zh-CN" altLang="en-US" dirty="0"/>
          </a:p>
        </p:txBody>
      </p:sp>
      <p:sp>
        <p:nvSpPr>
          <p:cNvPr id="21" name="椭圆 20"/>
          <p:cNvSpPr/>
          <p:nvPr/>
        </p:nvSpPr>
        <p:spPr>
          <a:xfrm>
            <a:off x="2761067" y="2696534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r</a:t>
            </a:r>
            <a:endParaRPr kumimoji="1" lang="zh-CN" altLang="en-US" dirty="0"/>
          </a:p>
        </p:txBody>
      </p:sp>
      <p:cxnSp>
        <p:nvCxnSpPr>
          <p:cNvPr id="22" name="直线连接符 21"/>
          <p:cNvCxnSpPr/>
          <p:nvPr/>
        </p:nvCxnSpPr>
        <p:spPr>
          <a:xfrm>
            <a:off x="1106040" y="3654457"/>
            <a:ext cx="4803973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2801512" y="5260135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x</a:t>
            </a:r>
            <a:r>
              <a:rPr kumimoji="1" lang="en-US" altLang="zh-CN"/>
              <a:t>+1</a:t>
            </a:r>
            <a:endParaRPr kumimoji="1" lang="zh-CN" alt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381659" y="2796729"/>
            <a:ext cx="471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y-1</a:t>
            </a:r>
            <a:endParaRPr kumimoji="1"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0" y="1364801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(x0,y0)</a:t>
            </a:r>
            <a:endParaRPr kumimoji="1"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3508026" y="5260135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(x1,y1)</a:t>
            </a:r>
            <a:endParaRPr kumimoji="1"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575785" y="3456001"/>
            <a:ext cx="353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y’</a:t>
            </a:r>
            <a:endParaRPr kumimoji="1"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1989392" y="2935922"/>
            <a:ext cx="497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det</a:t>
            </a:r>
            <a:endParaRPr kumimoji="1"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1887435" y="4062278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dif</a:t>
            </a:r>
            <a:endParaRPr kumimoji="1" lang="zh-CN" altLang="en-US" dirty="0"/>
          </a:p>
        </p:txBody>
      </p:sp>
      <p:sp>
        <p:nvSpPr>
          <p:cNvPr id="39" name="文本框 38"/>
          <p:cNvSpPr txBox="1"/>
          <p:nvPr/>
        </p:nvSpPr>
        <p:spPr>
          <a:xfrm>
            <a:off x="2054308" y="5798796"/>
            <a:ext cx="385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/>
              <a:t>rx</a:t>
            </a:r>
            <a:endParaRPr kumimoji="1" lang="zh-CN" altLang="en-US" sz="2000" dirty="0"/>
          </a:p>
        </p:txBody>
      </p:sp>
      <p:sp>
        <p:nvSpPr>
          <p:cNvPr id="41" name="文本框 40"/>
          <p:cNvSpPr txBox="1"/>
          <p:nvPr/>
        </p:nvSpPr>
        <p:spPr>
          <a:xfrm>
            <a:off x="56055" y="3522134"/>
            <a:ext cx="390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 err="1"/>
              <a:t>ry</a:t>
            </a:r>
            <a:endParaRPr kumimoji="1" lang="zh-CN" altLang="en-US" sz="2000" dirty="0"/>
          </a:p>
        </p:txBody>
      </p:sp>
      <p:cxnSp>
        <p:nvCxnSpPr>
          <p:cNvPr id="43" name="直线箭头连接符 42"/>
          <p:cNvCxnSpPr/>
          <p:nvPr/>
        </p:nvCxnSpPr>
        <p:spPr>
          <a:xfrm flipV="1">
            <a:off x="1106040" y="5781862"/>
            <a:ext cx="219502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箭头连接符 44"/>
          <p:cNvCxnSpPr/>
          <p:nvPr/>
        </p:nvCxnSpPr>
        <p:spPr>
          <a:xfrm>
            <a:off x="410529" y="1913465"/>
            <a:ext cx="0" cy="32613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弧 45"/>
          <p:cNvSpPr/>
          <p:nvPr/>
        </p:nvSpPr>
        <p:spPr>
          <a:xfrm>
            <a:off x="-2367252" y="1930398"/>
            <a:ext cx="5668319" cy="6197602"/>
          </a:xfrm>
          <a:prstGeom prst="arc">
            <a:avLst>
              <a:gd name="adj1" fmla="val 16726550"/>
              <a:gd name="adj2" fmla="val 173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" name="直线连接符 5"/>
          <p:cNvCxnSpPr/>
          <p:nvPr/>
        </p:nvCxnSpPr>
        <p:spPr>
          <a:xfrm flipV="1">
            <a:off x="1090532" y="2966534"/>
            <a:ext cx="1906668" cy="22082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9"/>
          <p:cNvCxnSpPr/>
          <p:nvPr/>
        </p:nvCxnSpPr>
        <p:spPr>
          <a:xfrm flipV="1">
            <a:off x="1071893" y="3640667"/>
            <a:ext cx="1942240" cy="15510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6340276" y="1350135"/>
            <a:ext cx="54154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令：</a:t>
            </a:r>
            <a:r>
              <a:rPr lang="en-US" altLang="zh-CN" dirty="0" err="1"/>
              <a:t>dif</a:t>
            </a:r>
            <a:r>
              <a:rPr lang="en-US" altLang="zh-CN" dirty="0"/>
              <a:t> = (x + 1)^2 * ry^2 + (y - 1)^2 * rx^2 - rx^2 * ry^2</a:t>
            </a:r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6340276" y="1866072"/>
            <a:ext cx="553125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如果</a:t>
            </a:r>
            <a:r>
              <a:rPr kumimoji="1" lang="en-US" altLang="zh-CN" dirty="0" err="1"/>
              <a:t>dif</a:t>
            </a:r>
            <a:r>
              <a:rPr kumimoji="1" lang="en-US" altLang="zh-CN" dirty="0"/>
              <a:t>&gt;0,</a:t>
            </a:r>
            <a:r>
              <a:rPr kumimoji="1" lang="zh-CN" altLang="en-US" dirty="0"/>
              <a:t>说明弧线在</a:t>
            </a:r>
            <a:r>
              <a:rPr kumimoji="1" lang="en-US" altLang="zh-CN" dirty="0"/>
              <a:t>l</a:t>
            </a:r>
            <a:r>
              <a:rPr kumimoji="1" lang="zh-CN" altLang="en-US" dirty="0"/>
              <a:t>和</a:t>
            </a:r>
            <a:r>
              <a:rPr kumimoji="1" lang="en-US" altLang="zh-CN" dirty="0"/>
              <a:t>r</a:t>
            </a:r>
            <a:r>
              <a:rPr kumimoji="1" lang="zh-CN" altLang="en-US" dirty="0"/>
              <a:t>之间穿过，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令：</a:t>
            </a:r>
            <a:r>
              <a:rPr kumimoji="1" lang="da-DK" altLang="zh-CN" dirty="0"/>
              <a:t>det = |(x</a:t>
            </a:r>
            <a:r>
              <a:rPr kumimoji="1" lang="en-US" altLang="zh-CN" dirty="0"/>
              <a:t>+1</a:t>
            </a:r>
            <a:r>
              <a:rPr kumimoji="1" lang="da-DK" altLang="zh-CN" dirty="0"/>
              <a:t> )^2 * ry^2 + (y</a:t>
            </a:r>
            <a:r>
              <a:rPr kumimoji="1" lang="en-US" altLang="zh-CN" dirty="0"/>
              <a:t>-1</a:t>
            </a:r>
            <a:r>
              <a:rPr kumimoji="1" lang="da-DK" altLang="zh-CN" dirty="0"/>
              <a:t>)^2 * rx^2 - rx^2 * ry^2|</a:t>
            </a:r>
            <a:endParaRPr kumimoji="1" lang="zh-CN" altLang="en-US" dirty="0"/>
          </a:p>
          <a:p>
            <a:pPr>
              <a:lnSpc>
                <a:spcPct val="150000"/>
              </a:lnSpc>
            </a:pPr>
            <a:r>
              <a:rPr kumimoji="1" lang="da-DK" altLang="zh-CN" dirty="0"/>
              <a:t> - |(x )^2 * ry^2 + (y - 1)^2 * rx^2 - rx^2 * ry^2| </a:t>
            </a:r>
            <a:endParaRPr kumimoji="1" lang="zh-CN" altLang="en-US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代入</a:t>
            </a:r>
            <a:r>
              <a:rPr kumimoji="1" lang="en-US" altLang="zh-CN" dirty="0" err="1"/>
              <a:t>dif</a:t>
            </a:r>
            <a:r>
              <a:rPr kumimoji="1" lang="en-US" altLang="zh-CN" dirty="0"/>
              <a:t>,</a:t>
            </a:r>
            <a:r>
              <a:rPr kumimoji="1" lang="zh-CN" altLang="en-US" dirty="0"/>
              <a:t>则</a:t>
            </a:r>
            <a:r>
              <a:rPr kumimoji="1" lang="en-US" altLang="zh-CN" dirty="0" err="1"/>
              <a:t>det</a:t>
            </a:r>
            <a:r>
              <a:rPr kumimoji="1" lang="en-US" altLang="zh-CN" dirty="0"/>
              <a:t>=2 * (</a:t>
            </a:r>
            <a:r>
              <a:rPr kumimoji="1" lang="en-US" altLang="zh-CN" dirty="0" err="1"/>
              <a:t>dif</a:t>
            </a:r>
            <a:r>
              <a:rPr kumimoji="1" lang="en-US" altLang="zh-CN" dirty="0"/>
              <a:t> - x * ry^2) +  ry^2</a:t>
            </a:r>
            <a:endParaRPr kumimoji="1"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6367897" y="3690475"/>
            <a:ext cx="3659976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判断：选择下一个点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x’,y</a:t>
            </a:r>
            <a:r>
              <a:rPr kumimoji="1" lang="en-US" altLang="zh-CN" dirty="0"/>
              <a:t>’)</a:t>
            </a:r>
            <a:endParaRPr kumimoji="1" lang="zh-CN" altLang="en-US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如果</a:t>
            </a:r>
            <a:r>
              <a:rPr kumimoji="1" lang="en-US" altLang="zh-CN" dirty="0" err="1"/>
              <a:t>det</a:t>
            </a:r>
            <a:r>
              <a:rPr kumimoji="1" lang="en-US" altLang="zh-CN" dirty="0"/>
              <a:t>&lt;0,</a:t>
            </a:r>
            <a:r>
              <a:rPr kumimoji="1" lang="zh-CN" altLang="en-US" dirty="0"/>
              <a:t> 则选</a:t>
            </a:r>
            <a:r>
              <a:rPr kumimoji="1" lang="en-US" altLang="zh-CN" dirty="0"/>
              <a:t>r</a:t>
            </a:r>
            <a:r>
              <a:rPr kumimoji="1" lang="zh-CN" altLang="en-US" dirty="0"/>
              <a:t>点，</a:t>
            </a:r>
            <a:r>
              <a:rPr kumimoji="1" lang="en-US" altLang="zh-CN" dirty="0"/>
              <a:t>x’=x+1,</a:t>
            </a:r>
            <a:r>
              <a:rPr kumimoji="1" lang="zh-CN" altLang="en-US" dirty="0"/>
              <a:t> </a:t>
            </a:r>
            <a:r>
              <a:rPr kumimoji="1" lang="en-US" altLang="zh-CN" dirty="0"/>
              <a:t>y’=y-1;</a:t>
            </a:r>
            <a:endParaRPr kumimoji="1" lang="zh-CN" altLang="en-US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否则选</a:t>
            </a:r>
            <a:r>
              <a:rPr kumimoji="1" lang="en-US" altLang="zh-CN" dirty="0"/>
              <a:t>l</a:t>
            </a:r>
            <a:r>
              <a:rPr kumimoji="1" lang="zh-CN" altLang="en-US" dirty="0"/>
              <a:t>点，</a:t>
            </a:r>
            <a:r>
              <a:rPr kumimoji="1" lang="en-US" altLang="zh-CN" dirty="0"/>
              <a:t>x’=x,</a:t>
            </a:r>
            <a:r>
              <a:rPr kumimoji="1" lang="zh-CN" altLang="en-US" dirty="0"/>
              <a:t> </a:t>
            </a:r>
            <a:r>
              <a:rPr kumimoji="1" lang="en-US" altLang="zh-CN" dirty="0"/>
              <a:t>y’=y-1;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4098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93121" y="181819"/>
            <a:ext cx="20016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/>
              <a:t>Bezier Curve: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1rd</a:t>
            </a:r>
            <a:endParaRPr lang="zh-CN" altLang="en-US" sz="2000" b="1" dirty="0"/>
          </a:p>
        </p:txBody>
      </p:sp>
      <p:cxnSp>
        <p:nvCxnSpPr>
          <p:cNvPr id="4" name="直线连接符 3"/>
          <p:cNvCxnSpPr/>
          <p:nvPr/>
        </p:nvCxnSpPr>
        <p:spPr>
          <a:xfrm>
            <a:off x="1204686" y="1640114"/>
            <a:ext cx="3526971" cy="177074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394612" y="142629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en-US" altLang="zh-CN" baseline="-25000" dirty="0"/>
              <a:t>0</a:t>
            </a:r>
            <a:endParaRPr kumimoji="1" lang="zh-CN" altLang="en-US" baseline="-25000" dirty="0"/>
          </a:p>
        </p:txBody>
      </p:sp>
      <p:sp>
        <p:nvSpPr>
          <p:cNvPr id="6" name="文本框 5"/>
          <p:cNvSpPr txBox="1"/>
          <p:nvPr/>
        </p:nvSpPr>
        <p:spPr>
          <a:xfrm>
            <a:off x="4872567" y="324312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en-US" altLang="zh-CN" baseline="-25000" dirty="0"/>
              <a:t>1</a:t>
            </a:r>
            <a:endParaRPr kumimoji="1" lang="zh-CN" altLang="en-US" baseline="-25000" dirty="0"/>
          </a:p>
        </p:txBody>
      </p:sp>
      <p:sp>
        <p:nvSpPr>
          <p:cNvPr id="7" name="椭圆 6"/>
          <p:cNvSpPr/>
          <p:nvPr/>
        </p:nvSpPr>
        <p:spPr>
          <a:xfrm>
            <a:off x="1095031" y="1517066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4651028" y="3311997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958631" y="1974265"/>
            <a:ext cx="180000" cy="180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228377" y="1886150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cxnSp>
        <p:nvCxnSpPr>
          <p:cNvPr id="12" name="直线连接符 11"/>
          <p:cNvCxnSpPr/>
          <p:nvPr/>
        </p:nvCxnSpPr>
        <p:spPr>
          <a:xfrm flipV="1">
            <a:off x="1136954" y="3658539"/>
            <a:ext cx="3604074" cy="21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/>
          <p:cNvCxnSpPr/>
          <p:nvPr/>
        </p:nvCxnSpPr>
        <p:spPr>
          <a:xfrm flipH="1">
            <a:off x="1146105" y="1670706"/>
            <a:ext cx="34835" cy="2009482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/>
          <p:cNvCxnSpPr/>
          <p:nvPr/>
        </p:nvCxnSpPr>
        <p:spPr>
          <a:xfrm flipH="1">
            <a:off x="1990121" y="2153311"/>
            <a:ext cx="46637" cy="1526877"/>
          </a:xfrm>
          <a:prstGeom prst="line">
            <a:avLst/>
          </a:prstGeom>
          <a:ln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/>
          <p:cNvCxnSpPr>
            <a:stCxn id="8" idx="4"/>
          </p:cNvCxnSpPr>
          <p:nvPr/>
        </p:nvCxnSpPr>
        <p:spPr>
          <a:xfrm>
            <a:off x="4741028" y="3445633"/>
            <a:ext cx="0" cy="212906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1001488" y="3810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4529342" y="3810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1839278" y="381000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t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891867" y="1670706"/>
            <a:ext cx="17828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P = (1-t)P</a:t>
            </a:r>
            <a:r>
              <a:rPr kumimoji="1" lang="en-US" altLang="zh-CN" sz="2000" baseline="-25000" dirty="0"/>
              <a:t>0</a:t>
            </a:r>
            <a:r>
              <a:rPr kumimoji="1" lang="en-US" altLang="zh-CN" sz="2000" dirty="0"/>
              <a:t> + tP</a:t>
            </a:r>
            <a:r>
              <a:rPr kumimoji="1" lang="en-US" altLang="zh-CN" sz="2000" baseline="-25000" dirty="0"/>
              <a:t>1</a:t>
            </a:r>
            <a:endParaRPr kumimoji="1" lang="zh-CN" altLang="en-US" sz="2000" baseline="-25000" dirty="0"/>
          </a:p>
        </p:txBody>
      </p:sp>
      <p:sp>
        <p:nvSpPr>
          <p:cNvPr id="27" name="矩形 26"/>
          <p:cNvSpPr/>
          <p:nvPr/>
        </p:nvSpPr>
        <p:spPr>
          <a:xfrm>
            <a:off x="2138631" y="4164119"/>
            <a:ext cx="1098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t∈[0</a:t>
            </a:r>
            <a:r>
              <a:rPr lang="zh-CN" altLang="en-US" dirty="0"/>
              <a:t>，</a:t>
            </a:r>
            <a:r>
              <a:rPr lang="en-US" altLang="zh-CN" dirty="0"/>
              <a:t>1]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5085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93121" y="181819"/>
            <a:ext cx="20016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/>
              <a:t>Bezier Curve: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2rd</a:t>
            </a:r>
            <a:endParaRPr lang="zh-CN" altLang="en-US" sz="2000" b="1" dirty="0"/>
          </a:p>
        </p:txBody>
      </p:sp>
      <p:sp>
        <p:nvSpPr>
          <p:cNvPr id="11" name="任意形状 10"/>
          <p:cNvSpPr/>
          <p:nvPr/>
        </p:nvSpPr>
        <p:spPr>
          <a:xfrm>
            <a:off x="999065" y="2709333"/>
            <a:ext cx="4097867" cy="1727200"/>
          </a:xfrm>
          <a:custGeom>
            <a:avLst/>
            <a:gdLst>
              <a:gd name="connsiteX0" fmla="*/ 0 w 3132666"/>
              <a:gd name="connsiteY0" fmla="*/ 2133649 h 2184449"/>
              <a:gd name="connsiteX1" fmla="*/ 1591733 w 3132666"/>
              <a:gd name="connsiteY1" fmla="*/ 49 h 2184449"/>
              <a:gd name="connsiteX2" fmla="*/ 3132666 w 3132666"/>
              <a:gd name="connsiteY2" fmla="*/ 2184449 h 218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32666" h="2184449">
                <a:moveTo>
                  <a:pt x="0" y="2133649"/>
                </a:moveTo>
                <a:cubicBezTo>
                  <a:pt x="534811" y="1062615"/>
                  <a:pt x="1069622" y="-8418"/>
                  <a:pt x="1591733" y="49"/>
                </a:cubicBezTo>
                <a:cubicBezTo>
                  <a:pt x="2113844" y="8516"/>
                  <a:pt x="2836333" y="1823205"/>
                  <a:pt x="3132666" y="2184449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" name="直线连接符 12"/>
          <p:cNvCxnSpPr/>
          <p:nvPr/>
        </p:nvCxnSpPr>
        <p:spPr>
          <a:xfrm flipV="1">
            <a:off x="982133" y="914400"/>
            <a:ext cx="2116667" cy="347133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/>
          <p:cNvCxnSpPr/>
          <p:nvPr/>
        </p:nvCxnSpPr>
        <p:spPr>
          <a:xfrm>
            <a:off x="3073399" y="914400"/>
            <a:ext cx="2023533" cy="352213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/>
        </p:nvSpPr>
        <p:spPr>
          <a:xfrm>
            <a:off x="874898" y="4327998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5006626" y="4361865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2974630" y="805868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1" name="直线连接符 20"/>
          <p:cNvCxnSpPr/>
          <p:nvPr/>
        </p:nvCxnSpPr>
        <p:spPr>
          <a:xfrm flipV="1">
            <a:off x="1693546" y="2219866"/>
            <a:ext cx="2119712" cy="103813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/>
          <p:cNvSpPr/>
          <p:nvPr/>
        </p:nvSpPr>
        <p:spPr>
          <a:xfrm>
            <a:off x="2532675" y="2707733"/>
            <a:ext cx="180000" cy="180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999065" y="345440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</a:t>
            </a:r>
            <a:endParaRPr kumimoji="1"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1998130" y="1591734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1-t</a:t>
            </a:r>
            <a:endParaRPr kumimoji="1"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3640667" y="1524002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</a:t>
            </a:r>
            <a:endParaRPr kumimoji="1"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4639732" y="3166536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1-t</a:t>
            </a:r>
            <a:endParaRPr kumimoji="1" lang="zh-CN" altLang="en-US" dirty="0"/>
          </a:p>
        </p:txBody>
      </p:sp>
      <p:sp>
        <p:nvSpPr>
          <p:cNvPr id="29" name="椭圆 28"/>
          <p:cNvSpPr/>
          <p:nvPr/>
        </p:nvSpPr>
        <p:spPr>
          <a:xfrm>
            <a:off x="1582977" y="3151068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3720213" y="2129866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1964263" y="2743199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</a:t>
            </a:r>
            <a:endParaRPr kumimoji="1"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2929463" y="2184400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1-t</a:t>
            </a:r>
            <a:endParaRPr kumimoji="1"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495094" y="4251867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en-US" altLang="zh-CN" baseline="-25000" dirty="0"/>
              <a:t>1</a:t>
            </a:r>
            <a:endParaRPr kumimoji="1" lang="zh-CN" altLang="en-US" baseline="-25000" dirty="0"/>
          </a:p>
        </p:txBody>
      </p:sp>
      <p:sp>
        <p:nvSpPr>
          <p:cNvPr id="36" name="文本框 35"/>
          <p:cNvSpPr txBox="1"/>
          <p:nvPr/>
        </p:nvSpPr>
        <p:spPr>
          <a:xfrm>
            <a:off x="2559763" y="71120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en-US" altLang="zh-CN" baseline="-25000" dirty="0"/>
              <a:t>2</a:t>
            </a:r>
            <a:endParaRPr kumimoji="1" lang="zh-CN" altLang="en-US" baseline="-25000" dirty="0"/>
          </a:p>
        </p:txBody>
      </p:sp>
      <p:sp>
        <p:nvSpPr>
          <p:cNvPr id="37" name="文本框 36"/>
          <p:cNvSpPr txBox="1"/>
          <p:nvPr/>
        </p:nvSpPr>
        <p:spPr>
          <a:xfrm>
            <a:off x="5236422" y="425186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en-US" altLang="zh-CN" baseline="-25000" dirty="0"/>
              <a:t>3</a:t>
            </a:r>
            <a:endParaRPr kumimoji="1" lang="zh-CN" altLang="en-US" baseline="-25000" dirty="0"/>
          </a:p>
        </p:txBody>
      </p:sp>
      <p:sp>
        <p:nvSpPr>
          <p:cNvPr id="38" name="文本框 37"/>
          <p:cNvSpPr txBox="1"/>
          <p:nvPr/>
        </p:nvSpPr>
        <p:spPr>
          <a:xfrm>
            <a:off x="1121628" y="30496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en-US" altLang="zh-CN" baseline="-25000" dirty="0"/>
              <a:t>4</a:t>
            </a:r>
            <a:endParaRPr kumimoji="1" lang="zh-CN" altLang="en-US" baseline="-25000" dirty="0"/>
          </a:p>
        </p:txBody>
      </p:sp>
      <p:sp>
        <p:nvSpPr>
          <p:cNvPr id="39" name="文本框 38"/>
          <p:cNvSpPr txBox="1"/>
          <p:nvPr/>
        </p:nvSpPr>
        <p:spPr>
          <a:xfrm>
            <a:off x="3982163" y="201506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en-US" altLang="zh-CN" baseline="-25000" dirty="0"/>
              <a:t>5</a:t>
            </a:r>
            <a:endParaRPr kumimoji="1" lang="zh-CN" altLang="en-US" baseline="-25000" dirty="0"/>
          </a:p>
        </p:txBody>
      </p:sp>
      <p:sp>
        <p:nvSpPr>
          <p:cNvPr id="40" name="文本框 39"/>
          <p:cNvSpPr txBox="1"/>
          <p:nvPr/>
        </p:nvSpPr>
        <p:spPr>
          <a:xfrm>
            <a:off x="2261025" y="2570665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P</a:t>
            </a:r>
            <a:endParaRPr kumimoji="1"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6909656" y="914400"/>
            <a:ext cx="37625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P</a:t>
            </a:r>
            <a:r>
              <a:rPr kumimoji="1" lang="en-US" altLang="zh-CN" sz="2000" baseline="-25000" dirty="0"/>
              <a:t>4</a:t>
            </a:r>
            <a:r>
              <a:rPr kumimoji="1" lang="en-US" altLang="zh-CN" sz="2000" dirty="0"/>
              <a:t> = (1-t)P</a:t>
            </a:r>
            <a:r>
              <a:rPr kumimoji="1" lang="en-US" altLang="zh-CN" sz="2000" baseline="-25000" dirty="0"/>
              <a:t>1</a:t>
            </a:r>
            <a:r>
              <a:rPr kumimoji="1" lang="en-US" altLang="zh-CN" sz="2000" dirty="0"/>
              <a:t> + tP</a:t>
            </a:r>
            <a:r>
              <a:rPr kumimoji="1" lang="en-US" altLang="zh-CN" sz="2000" baseline="-25000" dirty="0"/>
              <a:t>2</a:t>
            </a:r>
            <a:r>
              <a:rPr kumimoji="1" lang="en-US" altLang="zh-CN" sz="2000" dirty="0"/>
              <a:t>, P</a:t>
            </a:r>
            <a:r>
              <a:rPr kumimoji="1" lang="en-US" altLang="zh-CN" sz="2000" baseline="-25000" dirty="0"/>
              <a:t>5</a:t>
            </a:r>
            <a:r>
              <a:rPr kumimoji="1" lang="en-US" altLang="zh-CN" sz="2000" dirty="0"/>
              <a:t> = (1-t)P</a:t>
            </a:r>
            <a:r>
              <a:rPr kumimoji="1" lang="en-US" altLang="zh-CN" sz="2000" baseline="-25000" dirty="0"/>
              <a:t>2</a:t>
            </a:r>
            <a:r>
              <a:rPr kumimoji="1" lang="en-US" altLang="zh-CN" sz="2000" dirty="0"/>
              <a:t> + tP</a:t>
            </a:r>
            <a:r>
              <a:rPr kumimoji="1" lang="en-US" altLang="zh-CN" sz="2000" baseline="-25000" dirty="0"/>
              <a:t>3</a:t>
            </a:r>
            <a:endParaRPr kumimoji="1" lang="zh-CN" altLang="en-US" sz="2000" dirty="0"/>
          </a:p>
        </p:txBody>
      </p:sp>
      <p:sp>
        <p:nvSpPr>
          <p:cNvPr id="43" name="文本框 42"/>
          <p:cNvSpPr txBox="1"/>
          <p:nvPr/>
        </p:nvSpPr>
        <p:spPr>
          <a:xfrm>
            <a:off x="6909656" y="1376290"/>
            <a:ext cx="31229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P = (1-t)P</a:t>
            </a:r>
            <a:r>
              <a:rPr kumimoji="1" lang="en-US" altLang="zh-CN" sz="2000" baseline="-25000" dirty="0"/>
              <a:t>4</a:t>
            </a:r>
            <a:r>
              <a:rPr kumimoji="1" lang="en-US" altLang="zh-CN" sz="2000" dirty="0"/>
              <a:t> + tP</a:t>
            </a:r>
            <a:r>
              <a:rPr kumimoji="1" lang="en-US" altLang="zh-CN" sz="2000" baseline="-25000" dirty="0"/>
              <a:t>5</a:t>
            </a:r>
            <a:r>
              <a:rPr kumimoji="1" lang="en-US" altLang="zh-CN" sz="2000" dirty="0"/>
              <a:t>, </a:t>
            </a:r>
            <a:r>
              <a:rPr kumimoji="1" lang="zh-CN" altLang="en-US" sz="2000" dirty="0"/>
              <a:t>带入</a:t>
            </a:r>
            <a:r>
              <a:rPr kumimoji="1" lang="en-US" altLang="zh-CN" sz="2000" dirty="0"/>
              <a:t>P</a:t>
            </a:r>
            <a:r>
              <a:rPr kumimoji="1" lang="en-US" altLang="zh-CN" sz="2000" baseline="-25000" dirty="0"/>
              <a:t>4</a:t>
            </a:r>
            <a:r>
              <a:rPr kumimoji="1" lang="en-US" altLang="zh-CN" sz="2000" dirty="0"/>
              <a:t> , P</a:t>
            </a:r>
            <a:r>
              <a:rPr kumimoji="1" lang="en-US" altLang="zh-CN" sz="2000" baseline="-25000" dirty="0"/>
              <a:t>5</a:t>
            </a:r>
            <a:endParaRPr kumimoji="1" lang="zh-CN" altLang="en-US" sz="2000" dirty="0"/>
          </a:p>
        </p:txBody>
      </p:sp>
      <p:sp>
        <p:nvSpPr>
          <p:cNvPr id="44" name="文本框 43"/>
          <p:cNvSpPr txBox="1"/>
          <p:nvPr/>
        </p:nvSpPr>
        <p:spPr>
          <a:xfrm>
            <a:off x="6909656" y="1835092"/>
            <a:ext cx="32704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P = (1-t)</a:t>
            </a:r>
            <a:r>
              <a:rPr kumimoji="1" lang="en-US" altLang="zh-CN" sz="2000" baseline="30000" dirty="0"/>
              <a:t>2</a:t>
            </a:r>
            <a:r>
              <a:rPr kumimoji="1" lang="en-US" altLang="zh-CN" sz="2000" dirty="0"/>
              <a:t>P</a:t>
            </a:r>
            <a:r>
              <a:rPr kumimoji="1" lang="en-US" altLang="zh-CN" sz="2000" baseline="-25000" dirty="0"/>
              <a:t>1</a:t>
            </a:r>
            <a:r>
              <a:rPr kumimoji="1" lang="en-US" altLang="zh-CN" sz="2000" dirty="0"/>
              <a:t> + 2(1-t)tP</a:t>
            </a:r>
            <a:r>
              <a:rPr kumimoji="1" lang="en-US" altLang="zh-CN" sz="2000" baseline="-25000" dirty="0"/>
              <a:t>2</a:t>
            </a:r>
            <a:r>
              <a:rPr kumimoji="1" lang="zh-CN" altLang="en-US" sz="2000" baseline="-25000" dirty="0"/>
              <a:t> </a:t>
            </a:r>
            <a:r>
              <a:rPr kumimoji="1" lang="en-US" altLang="zh-CN" sz="2000" dirty="0"/>
              <a:t>+  t</a:t>
            </a:r>
            <a:r>
              <a:rPr kumimoji="1" lang="en-US" altLang="zh-CN" sz="2000" baseline="30000" dirty="0"/>
              <a:t>2</a:t>
            </a:r>
            <a:r>
              <a:rPr kumimoji="1" lang="en-US" altLang="zh-CN" sz="2000" dirty="0"/>
              <a:t>P</a:t>
            </a:r>
            <a:r>
              <a:rPr kumimoji="1" lang="en-US" altLang="zh-CN" sz="2000" baseline="-25000" dirty="0"/>
              <a:t>3</a:t>
            </a:r>
            <a:r>
              <a:rPr kumimoji="1" lang="en-US" altLang="zh-CN" sz="2000" dirty="0"/>
              <a:t> </a:t>
            </a:r>
            <a:endParaRPr kumimoji="1" lang="zh-CN" altLang="en-US" sz="2000" dirty="0"/>
          </a:p>
        </p:txBody>
      </p:sp>
      <p:sp>
        <p:nvSpPr>
          <p:cNvPr id="31" name="矩形 30"/>
          <p:cNvSpPr/>
          <p:nvPr/>
        </p:nvSpPr>
        <p:spPr>
          <a:xfrm>
            <a:off x="2138631" y="4164119"/>
            <a:ext cx="1098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t∈[0</a:t>
            </a:r>
            <a:r>
              <a:rPr lang="zh-CN" altLang="en-US" dirty="0"/>
              <a:t>，</a:t>
            </a:r>
            <a:r>
              <a:rPr lang="en-US" altLang="zh-CN" dirty="0"/>
              <a:t>1]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4263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93121" y="181819"/>
            <a:ext cx="20016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/>
              <a:t>Bezier Curve: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3rd</a:t>
            </a:r>
            <a:endParaRPr lang="zh-CN" altLang="en-US" sz="2000" b="1" dirty="0"/>
          </a:p>
        </p:txBody>
      </p:sp>
      <p:sp>
        <p:nvSpPr>
          <p:cNvPr id="3" name="任意形状 2"/>
          <p:cNvSpPr/>
          <p:nvPr/>
        </p:nvSpPr>
        <p:spPr>
          <a:xfrm>
            <a:off x="999065" y="2010187"/>
            <a:ext cx="4097867" cy="2426346"/>
          </a:xfrm>
          <a:custGeom>
            <a:avLst/>
            <a:gdLst>
              <a:gd name="connsiteX0" fmla="*/ 0 w 3132666"/>
              <a:gd name="connsiteY0" fmla="*/ 2133649 h 2184449"/>
              <a:gd name="connsiteX1" fmla="*/ 1591733 w 3132666"/>
              <a:gd name="connsiteY1" fmla="*/ 49 h 2184449"/>
              <a:gd name="connsiteX2" fmla="*/ 3132666 w 3132666"/>
              <a:gd name="connsiteY2" fmla="*/ 2184449 h 218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32666" h="2184449">
                <a:moveTo>
                  <a:pt x="0" y="2133649"/>
                </a:moveTo>
                <a:cubicBezTo>
                  <a:pt x="534811" y="1062615"/>
                  <a:pt x="1069622" y="-8418"/>
                  <a:pt x="1591733" y="49"/>
                </a:cubicBezTo>
                <a:cubicBezTo>
                  <a:pt x="2113844" y="8516"/>
                  <a:pt x="2836333" y="1823205"/>
                  <a:pt x="3132666" y="2184449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" name="直线连接符 3"/>
          <p:cNvCxnSpPr/>
          <p:nvPr/>
        </p:nvCxnSpPr>
        <p:spPr>
          <a:xfrm flipV="1">
            <a:off x="982133" y="1591734"/>
            <a:ext cx="982130" cy="2794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线连接符 4"/>
          <p:cNvCxnSpPr/>
          <p:nvPr/>
        </p:nvCxnSpPr>
        <p:spPr>
          <a:xfrm>
            <a:off x="3982163" y="914400"/>
            <a:ext cx="1114769" cy="352213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/>
          <p:cNvSpPr/>
          <p:nvPr/>
        </p:nvSpPr>
        <p:spPr>
          <a:xfrm>
            <a:off x="874898" y="4327998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5006626" y="4361865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3860001" y="820382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>
            <a:stCxn id="51" idx="6"/>
            <a:endCxn id="52" idx="2"/>
          </p:cNvCxnSpPr>
          <p:nvPr/>
        </p:nvCxnSpPr>
        <p:spPr>
          <a:xfrm flipV="1">
            <a:off x="2327321" y="1890097"/>
            <a:ext cx="1351257" cy="23948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2890470" y="1923636"/>
            <a:ext cx="180000" cy="180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11979" y="345440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</a:t>
            </a:r>
            <a:endParaRPr kumimoji="1"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243387" y="2027163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1-t</a:t>
            </a:r>
            <a:endParaRPr kumimoji="1"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4322837" y="1524002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</a:t>
            </a:r>
            <a:endParaRPr kumimoji="1"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4828418" y="3166536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1-t</a:t>
            </a:r>
            <a:endParaRPr kumimoji="1" lang="zh-CN" altLang="en-US" dirty="0"/>
          </a:p>
        </p:txBody>
      </p:sp>
      <p:sp>
        <p:nvSpPr>
          <p:cNvPr id="15" name="椭圆 14"/>
          <p:cNvSpPr/>
          <p:nvPr/>
        </p:nvSpPr>
        <p:spPr>
          <a:xfrm>
            <a:off x="1379776" y="2933354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2907412" y="1157409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515805" y="1785257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</a:t>
            </a:r>
            <a:endParaRPr kumimoji="1"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3132663" y="1661886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1-t</a:t>
            </a:r>
            <a:endParaRPr kumimoji="1"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495094" y="4251867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en-US" altLang="zh-CN" baseline="-25000" dirty="0"/>
              <a:t>0</a:t>
            </a:r>
            <a:endParaRPr kumimoji="1" lang="zh-CN" altLang="en-US" baseline="-25000" dirty="0"/>
          </a:p>
        </p:txBody>
      </p:sp>
      <p:sp>
        <p:nvSpPr>
          <p:cNvPr id="20" name="文本框 19"/>
          <p:cNvSpPr txBox="1"/>
          <p:nvPr/>
        </p:nvSpPr>
        <p:spPr>
          <a:xfrm>
            <a:off x="1485707" y="137885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en-US" altLang="zh-CN" baseline="-25000" dirty="0"/>
              <a:t>1</a:t>
            </a:r>
            <a:endParaRPr kumimoji="1" lang="zh-CN" altLang="en-US" baseline="-25000" dirty="0"/>
          </a:p>
        </p:txBody>
      </p:sp>
      <p:sp>
        <p:nvSpPr>
          <p:cNvPr id="21" name="文本框 20"/>
          <p:cNvSpPr txBox="1"/>
          <p:nvPr/>
        </p:nvSpPr>
        <p:spPr>
          <a:xfrm>
            <a:off x="5236422" y="425186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en-US" altLang="zh-CN" baseline="-25000" dirty="0"/>
              <a:t>3</a:t>
            </a:r>
            <a:endParaRPr kumimoji="1" lang="zh-CN" altLang="en-US" baseline="-25000" dirty="0"/>
          </a:p>
        </p:txBody>
      </p:sp>
      <p:sp>
        <p:nvSpPr>
          <p:cNvPr id="22" name="文本框 21"/>
          <p:cNvSpPr txBox="1"/>
          <p:nvPr/>
        </p:nvSpPr>
        <p:spPr>
          <a:xfrm>
            <a:off x="1020028" y="2802857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en-US" altLang="zh-CN" baseline="-25000" dirty="0"/>
              <a:t>4</a:t>
            </a:r>
            <a:endParaRPr kumimoji="1" lang="zh-CN" altLang="en-US" baseline="-25000" dirty="0"/>
          </a:p>
        </p:txBody>
      </p:sp>
      <p:sp>
        <p:nvSpPr>
          <p:cNvPr id="23" name="文本框 22"/>
          <p:cNvSpPr txBox="1"/>
          <p:nvPr/>
        </p:nvSpPr>
        <p:spPr>
          <a:xfrm>
            <a:off x="4649820" y="231986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en-US" altLang="zh-CN" baseline="-25000" dirty="0"/>
              <a:t>6</a:t>
            </a:r>
            <a:endParaRPr kumimoji="1" lang="zh-CN" altLang="en-US" baseline="-25000" dirty="0"/>
          </a:p>
        </p:txBody>
      </p:sp>
      <p:sp>
        <p:nvSpPr>
          <p:cNvPr id="24" name="文本框 23"/>
          <p:cNvSpPr txBox="1"/>
          <p:nvPr/>
        </p:nvSpPr>
        <p:spPr>
          <a:xfrm>
            <a:off x="2841596" y="159820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P</a:t>
            </a:r>
            <a:endParaRPr kumimoji="1"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6311871" y="914400"/>
            <a:ext cx="55691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P</a:t>
            </a:r>
            <a:r>
              <a:rPr kumimoji="1" lang="en-US" altLang="zh-CN" sz="2000" baseline="-25000" dirty="0"/>
              <a:t>4</a:t>
            </a:r>
            <a:r>
              <a:rPr kumimoji="1" lang="en-US" altLang="zh-CN" sz="2000" dirty="0"/>
              <a:t> = (1-t)P</a:t>
            </a:r>
            <a:r>
              <a:rPr kumimoji="1" lang="en-US" altLang="zh-CN" sz="2000" baseline="-25000" dirty="0"/>
              <a:t>0</a:t>
            </a:r>
            <a:r>
              <a:rPr kumimoji="1" lang="en-US" altLang="zh-CN" sz="2000" dirty="0"/>
              <a:t> + tP</a:t>
            </a:r>
            <a:r>
              <a:rPr kumimoji="1" lang="en-US" altLang="zh-CN" sz="2000" baseline="-25000" dirty="0"/>
              <a:t>1</a:t>
            </a:r>
            <a:r>
              <a:rPr kumimoji="1" lang="en-US" altLang="zh-CN" sz="2000" dirty="0"/>
              <a:t>, P</a:t>
            </a:r>
            <a:r>
              <a:rPr kumimoji="1" lang="en-US" altLang="zh-CN" sz="2000" baseline="-25000" dirty="0"/>
              <a:t>5</a:t>
            </a:r>
            <a:r>
              <a:rPr kumimoji="1" lang="en-US" altLang="zh-CN" sz="2000" dirty="0"/>
              <a:t> = (1-t)P</a:t>
            </a:r>
            <a:r>
              <a:rPr kumimoji="1" lang="en-US" altLang="zh-CN" sz="2000" baseline="-25000" dirty="0"/>
              <a:t>1</a:t>
            </a:r>
            <a:r>
              <a:rPr kumimoji="1" lang="en-US" altLang="zh-CN" sz="2000" dirty="0"/>
              <a:t> + tP</a:t>
            </a:r>
            <a:r>
              <a:rPr kumimoji="1" lang="en-US" altLang="zh-CN" sz="2000" baseline="-25000" dirty="0"/>
              <a:t>2</a:t>
            </a:r>
            <a:r>
              <a:rPr kumimoji="1" lang="en-US" altLang="zh-CN" sz="2000" dirty="0"/>
              <a:t>, P</a:t>
            </a:r>
            <a:r>
              <a:rPr kumimoji="1" lang="en-US" altLang="zh-CN" sz="2000" baseline="-25000" dirty="0"/>
              <a:t>6</a:t>
            </a:r>
            <a:r>
              <a:rPr kumimoji="1" lang="en-US" altLang="zh-CN" sz="2000" dirty="0"/>
              <a:t> = (1-t)P</a:t>
            </a:r>
            <a:r>
              <a:rPr kumimoji="1" lang="en-US" altLang="zh-CN" sz="2000" baseline="-25000" dirty="0"/>
              <a:t>2</a:t>
            </a:r>
            <a:r>
              <a:rPr kumimoji="1" lang="en-US" altLang="zh-CN" sz="2000" dirty="0"/>
              <a:t> + tP</a:t>
            </a:r>
            <a:r>
              <a:rPr kumimoji="1" lang="en-US" altLang="zh-CN" sz="2000" baseline="-25000" dirty="0"/>
              <a:t>3</a:t>
            </a:r>
            <a:endParaRPr kumimoji="1" lang="zh-CN" altLang="en-US" sz="2000" dirty="0"/>
          </a:p>
        </p:txBody>
      </p:sp>
      <p:sp>
        <p:nvSpPr>
          <p:cNvPr id="26" name="文本框 25"/>
          <p:cNvSpPr txBox="1"/>
          <p:nvPr/>
        </p:nvSpPr>
        <p:spPr>
          <a:xfrm>
            <a:off x="6311871" y="1846552"/>
            <a:ext cx="34435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P = (1-t)P</a:t>
            </a:r>
            <a:r>
              <a:rPr kumimoji="1" lang="en-US" altLang="zh-CN" sz="2000" baseline="-25000" dirty="0"/>
              <a:t>7</a:t>
            </a:r>
            <a:r>
              <a:rPr kumimoji="1" lang="en-US" altLang="zh-CN" sz="2000" dirty="0"/>
              <a:t> + tP</a:t>
            </a:r>
            <a:r>
              <a:rPr kumimoji="1" lang="en-US" altLang="zh-CN" sz="2000" baseline="-25000" dirty="0"/>
              <a:t>8</a:t>
            </a:r>
            <a:r>
              <a:rPr kumimoji="1" lang="en-US" altLang="zh-CN" sz="2000" dirty="0"/>
              <a:t>, </a:t>
            </a:r>
            <a:r>
              <a:rPr kumimoji="1" lang="zh-CN" altLang="en-US" sz="2000" dirty="0"/>
              <a:t>带入以上公式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6311871" y="2319868"/>
            <a:ext cx="45752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P = (1-t)</a:t>
            </a:r>
            <a:r>
              <a:rPr kumimoji="1" lang="en-US" altLang="zh-CN" sz="2000" baseline="30000" dirty="0"/>
              <a:t>3</a:t>
            </a:r>
            <a:r>
              <a:rPr kumimoji="1" lang="en-US" altLang="zh-CN" sz="2000" dirty="0"/>
              <a:t>P</a:t>
            </a:r>
            <a:r>
              <a:rPr kumimoji="1" lang="en-US" altLang="zh-CN" sz="2000" baseline="-25000" dirty="0"/>
              <a:t>0</a:t>
            </a:r>
            <a:r>
              <a:rPr kumimoji="1" lang="en-US" altLang="zh-CN" sz="2000" dirty="0"/>
              <a:t> + 3(1-t)</a:t>
            </a:r>
            <a:r>
              <a:rPr kumimoji="1" lang="en-US" altLang="zh-CN" sz="2000" baseline="30000" dirty="0"/>
              <a:t>2</a:t>
            </a:r>
            <a:r>
              <a:rPr kumimoji="1" lang="en-US" altLang="zh-CN" sz="2000" dirty="0"/>
              <a:t>tP</a:t>
            </a:r>
            <a:r>
              <a:rPr kumimoji="1" lang="en-US" altLang="zh-CN" sz="2000" baseline="-25000" dirty="0"/>
              <a:t>1</a:t>
            </a:r>
            <a:r>
              <a:rPr kumimoji="1" lang="en-US" altLang="zh-CN" sz="2000" dirty="0"/>
              <a:t> + 3(1-t)t</a:t>
            </a:r>
            <a:r>
              <a:rPr kumimoji="1" lang="en-US" altLang="zh-CN" sz="2000" baseline="30000" dirty="0"/>
              <a:t>2</a:t>
            </a:r>
            <a:r>
              <a:rPr kumimoji="1" lang="en-US" altLang="zh-CN" sz="2000" dirty="0"/>
              <a:t>P</a:t>
            </a:r>
            <a:r>
              <a:rPr kumimoji="1" lang="en-US" altLang="zh-CN" sz="2000" baseline="-25000" dirty="0"/>
              <a:t>2</a:t>
            </a:r>
            <a:r>
              <a:rPr kumimoji="1" lang="zh-CN" altLang="en-US" sz="2000" baseline="-25000" dirty="0"/>
              <a:t> </a:t>
            </a:r>
            <a:r>
              <a:rPr kumimoji="1" lang="en-US" altLang="zh-CN" sz="2000" dirty="0"/>
              <a:t>+  t</a:t>
            </a:r>
            <a:r>
              <a:rPr kumimoji="1" lang="en-US" altLang="zh-CN" sz="2000" baseline="30000" dirty="0"/>
              <a:t>3</a:t>
            </a:r>
            <a:r>
              <a:rPr kumimoji="1" lang="en-US" altLang="zh-CN" sz="2000" dirty="0"/>
              <a:t>P</a:t>
            </a:r>
            <a:r>
              <a:rPr kumimoji="1" lang="en-US" altLang="zh-CN" sz="2000" baseline="-25000" dirty="0"/>
              <a:t>3</a:t>
            </a:r>
            <a:r>
              <a:rPr kumimoji="1" lang="en-US" altLang="zh-CN" sz="2000" dirty="0"/>
              <a:t> </a:t>
            </a:r>
            <a:endParaRPr kumimoji="1" lang="zh-CN" altLang="en-US" sz="2000" dirty="0"/>
          </a:p>
        </p:txBody>
      </p:sp>
      <p:cxnSp>
        <p:nvCxnSpPr>
          <p:cNvPr id="30" name="直线连接符 29"/>
          <p:cNvCxnSpPr/>
          <p:nvPr/>
        </p:nvCxnSpPr>
        <p:spPr>
          <a:xfrm flipV="1">
            <a:off x="1978777" y="914401"/>
            <a:ext cx="2015836" cy="69959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/>
          <p:cNvSpPr/>
          <p:nvPr/>
        </p:nvSpPr>
        <p:spPr>
          <a:xfrm>
            <a:off x="1878804" y="1509811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4404287" y="2424210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3" name="直线连接符 42"/>
          <p:cNvCxnSpPr/>
          <p:nvPr/>
        </p:nvCxnSpPr>
        <p:spPr>
          <a:xfrm flipV="1">
            <a:off x="1453254" y="1270856"/>
            <a:ext cx="1516341" cy="181442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连接符 46"/>
          <p:cNvCxnSpPr>
            <a:stCxn id="16" idx="5"/>
            <a:endCxn id="39" idx="1"/>
          </p:cNvCxnSpPr>
          <p:nvPr/>
        </p:nvCxnSpPr>
        <p:spPr>
          <a:xfrm>
            <a:off x="3061052" y="1311049"/>
            <a:ext cx="1369595" cy="113952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椭圆 50"/>
          <p:cNvSpPr/>
          <p:nvPr/>
        </p:nvSpPr>
        <p:spPr>
          <a:xfrm>
            <a:off x="2147321" y="2039583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3678578" y="1800097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4091022" y="73297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en-US" altLang="zh-CN" baseline="-25000" dirty="0"/>
              <a:t>2</a:t>
            </a:r>
            <a:endParaRPr kumimoji="1" lang="zh-CN" altLang="en-US" baseline="-25000" dirty="0"/>
          </a:p>
        </p:txBody>
      </p:sp>
      <p:sp>
        <p:nvSpPr>
          <p:cNvPr id="57" name="文本框 56"/>
          <p:cNvSpPr txBox="1"/>
          <p:nvPr/>
        </p:nvSpPr>
        <p:spPr>
          <a:xfrm>
            <a:off x="2567020" y="9652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en-US" altLang="zh-CN" baseline="-25000" dirty="0"/>
              <a:t>5</a:t>
            </a:r>
            <a:endParaRPr kumimoji="1" lang="zh-CN" altLang="en-US" baseline="-25000" dirty="0"/>
          </a:p>
        </p:txBody>
      </p:sp>
      <p:sp>
        <p:nvSpPr>
          <p:cNvPr id="58" name="文本框 57"/>
          <p:cNvSpPr txBox="1"/>
          <p:nvPr/>
        </p:nvSpPr>
        <p:spPr>
          <a:xfrm>
            <a:off x="1797764" y="192314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en-US" altLang="zh-CN" baseline="-25000" dirty="0"/>
              <a:t>7</a:t>
            </a:r>
            <a:endParaRPr kumimoji="1" lang="zh-CN" altLang="en-US" baseline="-25000" dirty="0"/>
          </a:p>
        </p:txBody>
      </p:sp>
      <p:sp>
        <p:nvSpPr>
          <p:cNvPr id="59" name="文本框 58"/>
          <p:cNvSpPr txBox="1"/>
          <p:nvPr/>
        </p:nvSpPr>
        <p:spPr>
          <a:xfrm>
            <a:off x="3837019" y="169817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en-US" altLang="zh-CN" baseline="-25000" dirty="0"/>
              <a:t>8</a:t>
            </a:r>
            <a:endParaRPr kumimoji="1" lang="zh-CN" altLang="en-US" baseline="-25000" dirty="0"/>
          </a:p>
        </p:txBody>
      </p:sp>
      <p:sp>
        <p:nvSpPr>
          <p:cNvPr id="60" name="文本框 59"/>
          <p:cNvSpPr txBox="1"/>
          <p:nvPr/>
        </p:nvSpPr>
        <p:spPr>
          <a:xfrm>
            <a:off x="6311871" y="1382764"/>
            <a:ext cx="36760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P</a:t>
            </a:r>
            <a:r>
              <a:rPr kumimoji="1" lang="en-US" altLang="zh-CN" sz="2000" baseline="-25000" dirty="0"/>
              <a:t>7</a:t>
            </a:r>
            <a:r>
              <a:rPr kumimoji="1" lang="en-US" altLang="zh-CN" sz="2000" dirty="0"/>
              <a:t> = (1-t)P</a:t>
            </a:r>
            <a:r>
              <a:rPr kumimoji="1" lang="en-US" altLang="zh-CN" sz="2000" baseline="-25000" dirty="0"/>
              <a:t>4</a:t>
            </a:r>
            <a:r>
              <a:rPr kumimoji="1" lang="en-US" altLang="zh-CN" sz="2000" dirty="0"/>
              <a:t> + tP</a:t>
            </a:r>
            <a:r>
              <a:rPr kumimoji="1" lang="en-US" altLang="zh-CN" sz="2000" baseline="-25000" dirty="0"/>
              <a:t>5</a:t>
            </a:r>
            <a:r>
              <a:rPr kumimoji="1" lang="en-US" altLang="zh-CN" sz="2000" dirty="0"/>
              <a:t>, P</a:t>
            </a:r>
            <a:r>
              <a:rPr kumimoji="1" lang="en-US" altLang="zh-CN" sz="2000" baseline="-25000" dirty="0"/>
              <a:t>8</a:t>
            </a:r>
            <a:r>
              <a:rPr kumimoji="1" lang="en-US" altLang="zh-CN" sz="2000" dirty="0"/>
              <a:t> = (1-t)P</a:t>
            </a:r>
            <a:r>
              <a:rPr kumimoji="1" lang="en-US" altLang="zh-CN" sz="2000" baseline="-25000" dirty="0"/>
              <a:t>5</a:t>
            </a:r>
            <a:r>
              <a:rPr kumimoji="1" lang="en-US" altLang="zh-CN" sz="2000" dirty="0"/>
              <a:t> + tP</a:t>
            </a:r>
            <a:r>
              <a:rPr kumimoji="1" lang="en-US" altLang="zh-CN" sz="2000" baseline="-25000" dirty="0"/>
              <a:t>6</a:t>
            </a:r>
            <a:endParaRPr kumimoji="1" lang="zh-CN" altLang="en-US" sz="2000" dirty="0"/>
          </a:p>
        </p:txBody>
      </p:sp>
      <p:sp>
        <p:nvSpPr>
          <p:cNvPr id="61" name="矩形 60"/>
          <p:cNvSpPr/>
          <p:nvPr/>
        </p:nvSpPr>
        <p:spPr>
          <a:xfrm>
            <a:off x="2138631" y="4164119"/>
            <a:ext cx="1098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t∈[0</a:t>
            </a:r>
            <a:r>
              <a:rPr lang="zh-CN" altLang="en-US" dirty="0"/>
              <a:t>，</a:t>
            </a:r>
            <a:r>
              <a:rPr lang="en-US" altLang="zh-CN" dirty="0"/>
              <a:t>1]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3251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椭圆 46">
            <a:extLst>
              <a:ext uri="{FF2B5EF4-FFF2-40B4-BE49-F238E27FC236}">
                <a16:creationId xmlns:a16="http://schemas.microsoft.com/office/drawing/2014/main" id="{B2648DBC-4C30-FD72-870A-9FE8CB5E7618}"/>
              </a:ext>
            </a:extLst>
          </p:cNvPr>
          <p:cNvSpPr/>
          <p:nvPr/>
        </p:nvSpPr>
        <p:spPr>
          <a:xfrm>
            <a:off x="1283725" y="1255245"/>
            <a:ext cx="3465876" cy="34077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2F22CFE-9D3B-801D-5DE3-F24474A2AE09}"/>
              </a:ext>
            </a:extLst>
          </p:cNvPr>
          <p:cNvSpPr/>
          <p:nvPr/>
        </p:nvSpPr>
        <p:spPr>
          <a:xfrm>
            <a:off x="430182" y="3088757"/>
            <a:ext cx="3465876" cy="34077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5136421F-CB28-6B36-D02F-D9A6236A018E}"/>
              </a:ext>
            </a:extLst>
          </p:cNvPr>
          <p:cNvCxnSpPr>
            <a:cxnSpLocks/>
          </p:cNvCxnSpPr>
          <p:nvPr/>
        </p:nvCxnSpPr>
        <p:spPr>
          <a:xfrm>
            <a:off x="858131" y="3295027"/>
            <a:ext cx="4130335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7EC218CF-1534-B8EA-77FD-687DBCAA2714}"/>
              </a:ext>
            </a:extLst>
          </p:cNvPr>
          <p:cNvCxnSpPr>
            <a:cxnSpLocks/>
          </p:cNvCxnSpPr>
          <p:nvPr/>
        </p:nvCxnSpPr>
        <p:spPr>
          <a:xfrm>
            <a:off x="1322819" y="1661602"/>
            <a:ext cx="21788" cy="503691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>
            <a:extLst>
              <a:ext uri="{FF2B5EF4-FFF2-40B4-BE49-F238E27FC236}">
                <a16:creationId xmlns:a16="http://schemas.microsoft.com/office/drawing/2014/main" id="{9A39766B-C271-E049-5F7C-4D24E8BE347B}"/>
              </a:ext>
            </a:extLst>
          </p:cNvPr>
          <p:cNvSpPr/>
          <p:nvPr/>
        </p:nvSpPr>
        <p:spPr>
          <a:xfrm>
            <a:off x="1232819" y="3205027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B2F13561-E18A-59E1-23CA-B30F6B66076D}"/>
              </a:ext>
            </a:extLst>
          </p:cNvPr>
          <p:cNvCxnSpPr/>
          <p:nvPr/>
        </p:nvCxnSpPr>
        <p:spPr>
          <a:xfrm>
            <a:off x="1344607" y="3295027"/>
            <a:ext cx="2520876" cy="113453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BCFD84AC-FCEA-ECBD-3F15-77ED567B398C}"/>
              </a:ext>
            </a:extLst>
          </p:cNvPr>
          <p:cNvSpPr/>
          <p:nvPr/>
        </p:nvSpPr>
        <p:spPr>
          <a:xfrm>
            <a:off x="3772907" y="4339561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12DE337-738B-950A-9378-A90889050C81}"/>
              </a:ext>
            </a:extLst>
          </p:cNvPr>
          <p:cNvSpPr/>
          <p:nvPr/>
        </p:nvSpPr>
        <p:spPr>
          <a:xfrm>
            <a:off x="2018589" y="4722182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AC6E1BBB-86E7-B613-5520-4547313D3898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279182" y="3216359"/>
            <a:ext cx="765767" cy="1532183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711DD996-6FBC-F110-5FF4-A5DB007B13C0}"/>
              </a:ext>
            </a:extLst>
          </p:cNvPr>
          <p:cNvCxnSpPr>
            <a:cxnSpLocks/>
            <a:stCxn id="10" idx="6"/>
            <a:endCxn id="7" idx="3"/>
          </p:cNvCxnSpPr>
          <p:nvPr/>
        </p:nvCxnSpPr>
        <p:spPr>
          <a:xfrm flipV="1">
            <a:off x="2198589" y="4493201"/>
            <a:ext cx="1600678" cy="318981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E353A9E0-7D5C-00E5-1DCC-E07667002750}"/>
              </a:ext>
            </a:extLst>
          </p:cNvPr>
          <p:cNvCxnSpPr>
            <a:cxnSpLocks/>
            <a:stCxn id="10" idx="7"/>
          </p:cNvCxnSpPr>
          <p:nvPr/>
        </p:nvCxnSpPr>
        <p:spPr>
          <a:xfrm flipV="1">
            <a:off x="2172229" y="2959102"/>
            <a:ext cx="819033" cy="178944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FC1482A0-D33E-0EEF-B47A-9105CEAB2735}"/>
              </a:ext>
            </a:extLst>
          </p:cNvPr>
          <p:cNvCxnSpPr>
            <a:cxnSpLocks/>
          </p:cNvCxnSpPr>
          <p:nvPr/>
        </p:nvCxnSpPr>
        <p:spPr>
          <a:xfrm flipH="1">
            <a:off x="3868016" y="2883836"/>
            <a:ext cx="13158" cy="1920837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ECC437AD-7747-4265-0169-7A19DD9AC8B5}"/>
              </a:ext>
            </a:extLst>
          </p:cNvPr>
          <p:cNvCxnSpPr>
            <a:cxnSpLocks/>
          </p:cNvCxnSpPr>
          <p:nvPr/>
        </p:nvCxnSpPr>
        <p:spPr>
          <a:xfrm flipV="1">
            <a:off x="1322819" y="4792614"/>
            <a:ext cx="3470868" cy="12059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815D8139-E0A0-41B0-22D0-8C4BBE846F61}"/>
              </a:ext>
            </a:extLst>
          </p:cNvPr>
          <p:cNvCxnSpPr>
            <a:cxnSpLocks/>
          </p:cNvCxnSpPr>
          <p:nvPr/>
        </p:nvCxnSpPr>
        <p:spPr>
          <a:xfrm flipH="1">
            <a:off x="2111983" y="3295027"/>
            <a:ext cx="10029" cy="340348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C33922DB-0599-EB09-CB94-E333970A1831}"/>
              </a:ext>
            </a:extLst>
          </p:cNvPr>
          <p:cNvSpPr txBox="1"/>
          <p:nvPr/>
        </p:nvSpPr>
        <p:spPr>
          <a:xfrm>
            <a:off x="923877" y="2951662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O</a:t>
            </a:r>
            <a:endParaRPr kumimoji="1"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BBD936D-B0CA-2A83-4508-6D11AB4CBEAD}"/>
              </a:ext>
            </a:extLst>
          </p:cNvPr>
          <p:cNvSpPr txBox="1"/>
          <p:nvPr/>
        </p:nvSpPr>
        <p:spPr>
          <a:xfrm>
            <a:off x="3931699" y="424840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7729608-4E7D-14F0-B654-8D568722B9FB}"/>
              </a:ext>
            </a:extLst>
          </p:cNvPr>
          <p:cNvSpPr txBox="1"/>
          <p:nvPr/>
        </p:nvSpPr>
        <p:spPr>
          <a:xfrm>
            <a:off x="2177892" y="4823844"/>
            <a:ext cx="392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O‘</a:t>
            </a:r>
            <a:endParaRPr kumimoji="1"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85A1099-B593-91A0-58C8-BDE6BFC02EEC}"/>
              </a:ext>
            </a:extLst>
          </p:cNvPr>
          <p:cNvSpPr txBox="1"/>
          <p:nvPr/>
        </p:nvSpPr>
        <p:spPr>
          <a:xfrm>
            <a:off x="298063" y="197182"/>
            <a:ext cx="2822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Arc from world origin O to A</a:t>
            </a:r>
            <a:endParaRPr kumimoji="1" lang="zh-CN" altLang="en-US" dirty="0"/>
          </a:p>
        </p:txBody>
      </p: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65DF9533-E9EF-21A2-42C4-054172608465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1322819" y="4429561"/>
            <a:ext cx="2608880" cy="35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EBC8A338-C63C-2D99-F372-DCF3B0E01664}"/>
              </a:ext>
            </a:extLst>
          </p:cNvPr>
          <p:cNvSpPr txBox="1"/>
          <p:nvPr/>
        </p:nvSpPr>
        <p:spPr>
          <a:xfrm>
            <a:off x="3722912" y="2973835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</a:t>
            </a:r>
            <a:r>
              <a:rPr kumimoji="1" lang="en-US" altLang="zh-CN" baseline="-25000" dirty="0"/>
              <a:t>x</a:t>
            </a:r>
            <a:endParaRPr kumimoji="1" lang="zh-CN" altLang="en-US" baseline="-250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8019413-7945-2FFF-8626-C51B26A342FE}"/>
              </a:ext>
            </a:extLst>
          </p:cNvPr>
          <p:cNvSpPr txBox="1"/>
          <p:nvPr/>
        </p:nvSpPr>
        <p:spPr>
          <a:xfrm>
            <a:off x="921118" y="4197801"/>
            <a:ext cx="382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</a:t>
            </a:r>
            <a:r>
              <a:rPr kumimoji="1" lang="en-US" altLang="zh-CN" baseline="-25000" dirty="0"/>
              <a:t>y</a:t>
            </a:r>
            <a:endParaRPr kumimoji="1" lang="zh-CN" altLang="en-US" baseline="-250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4D6730-2E85-DAAA-6499-AED398291861}"/>
              </a:ext>
            </a:extLst>
          </p:cNvPr>
          <p:cNvSpPr txBox="1"/>
          <p:nvPr/>
        </p:nvSpPr>
        <p:spPr>
          <a:xfrm>
            <a:off x="4925108" y="3110361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X</a:t>
            </a:r>
            <a:endParaRPr kumimoji="1"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60E744B-6527-3A46-8C6A-0BD4FB61442A}"/>
              </a:ext>
            </a:extLst>
          </p:cNvPr>
          <p:cNvSpPr txBox="1"/>
          <p:nvPr/>
        </p:nvSpPr>
        <p:spPr>
          <a:xfrm>
            <a:off x="1192161" y="1336058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Y</a:t>
            </a:r>
            <a:endParaRPr kumimoji="1"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69A4654-65AE-451F-0274-1390D7FCB574}"/>
              </a:ext>
            </a:extLst>
          </p:cNvPr>
          <p:cNvSpPr txBox="1"/>
          <p:nvPr/>
        </p:nvSpPr>
        <p:spPr>
          <a:xfrm>
            <a:off x="4948499" y="3654409"/>
            <a:ext cx="3525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OO’A = </a:t>
            </a:r>
            <a:r>
              <a:rPr kumimoji="1" lang="en-US" altLang="zh-CN" dirty="0" err="1"/>
              <a:t>arcsin</a:t>
            </a:r>
            <a:r>
              <a:rPr kumimoji="1" lang="en-US" altLang="zh-CN" dirty="0"/>
              <a:t>(|OA/2| / |OO’|) * 2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7A1B1E4-706A-3FF1-62C8-FB59884CDB1C}"/>
              </a:ext>
            </a:extLst>
          </p:cNvPr>
          <p:cNvSpPr txBox="1"/>
          <p:nvPr/>
        </p:nvSpPr>
        <p:spPr>
          <a:xfrm>
            <a:off x="3746723" y="4812167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A’</a:t>
            </a:r>
            <a:r>
              <a:rPr kumimoji="1" lang="en-US" altLang="zh-CN" baseline="-25000" dirty="0" err="1"/>
              <a:t>x</a:t>
            </a:r>
            <a:endParaRPr kumimoji="1" lang="zh-CN" altLang="en-US" baseline="-25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EDA6E65-C141-4507-A831-6F8EB882A3DF}"/>
              </a:ext>
            </a:extLst>
          </p:cNvPr>
          <p:cNvSpPr txBox="1"/>
          <p:nvPr/>
        </p:nvSpPr>
        <p:spPr>
          <a:xfrm>
            <a:off x="4945628" y="4256135"/>
            <a:ext cx="2364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 err="1"/>
              <a:t>AOA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/>
              <a:t> = arctan(A</a:t>
            </a:r>
            <a:r>
              <a:rPr kumimoji="1" lang="en-US" altLang="zh-CN" baseline="-25000" dirty="0"/>
              <a:t>y</a:t>
            </a:r>
            <a:r>
              <a:rPr kumimoji="1" lang="en-US" altLang="zh-CN" dirty="0"/>
              <a:t> / A</a:t>
            </a:r>
            <a:r>
              <a:rPr kumimoji="1" lang="en-US" altLang="zh-CN" baseline="-25000" dirty="0"/>
              <a:t>x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309D579-826B-CD96-408A-A2960926298E}"/>
              </a:ext>
            </a:extLst>
          </p:cNvPr>
          <p:cNvSpPr txBox="1"/>
          <p:nvPr/>
        </p:nvSpPr>
        <p:spPr>
          <a:xfrm>
            <a:off x="4944190" y="3981590"/>
            <a:ext cx="3381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AOO’ = - </a:t>
            </a:r>
            <a:r>
              <a:rPr kumimoji="1" lang="en-US" altLang="zh-CN" dirty="0" err="1"/>
              <a:t>arccos</a:t>
            </a:r>
            <a:r>
              <a:rPr kumimoji="1" lang="en-US" altLang="zh-CN" dirty="0"/>
              <a:t>(|OA/2| / |OO’|)</a:t>
            </a:r>
            <a:endParaRPr kumimoji="1"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B9D0A9D-DF5E-EE24-3D4D-E59E7310A511}"/>
              </a:ext>
            </a:extLst>
          </p:cNvPr>
          <p:cNvSpPr txBox="1"/>
          <p:nvPr/>
        </p:nvSpPr>
        <p:spPr>
          <a:xfrm>
            <a:off x="4925258" y="4900462"/>
            <a:ext cx="3121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OO’ </a:t>
            </a:r>
            <a:r>
              <a:rPr kumimoji="1" lang="en-US" altLang="zh-CN" dirty="0" err="1"/>
              <a:t>A’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/>
              <a:t> = </a:t>
            </a:r>
            <a:r>
              <a:rPr kumimoji="1" lang="el-GR" altLang="zh-CN" dirty="0"/>
              <a:t>π </a:t>
            </a:r>
            <a:r>
              <a:rPr kumimoji="1" lang="en-US" altLang="zh-CN" dirty="0"/>
              <a:t>+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AOO’ + </a:t>
            </a:r>
            <a:r>
              <a:rPr kumimoji="1" lang="zh-CN" altLang="en-US" dirty="0"/>
              <a:t>∠</a:t>
            </a:r>
            <a:r>
              <a:rPr kumimoji="1" lang="en-US" altLang="zh-CN" dirty="0" err="1"/>
              <a:t>AOA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6FDFE1C1-1758-5B17-D94B-3ED9BB58941C}"/>
              </a:ext>
            </a:extLst>
          </p:cNvPr>
          <p:cNvCxnSpPr>
            <a:cxnSpLocks/>
          </p:cNvCxnSpPr>
          <p:nvPr/>
        </p:nvCxnSpPr>
        <p:spPr>
          <a:xfrm>
            <a:off x="3006953" y="719935"/>
            <a:ext cx="7922" cy="259619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D50192CD-599E-F031-4156-5B43FEDEC231}"/>
              </a:ext>
            </a:extLst>
          </p:cNvPr>
          <p:cNvCxnSpPr>
            <a:cxnSpLocks/>
          </p:cNvCxnSpPr>
          <p:nvPr/>
        </p:nvCxnSpPr>
        <p:spPr>
          <a:xfrm flipV="1">
            <a:off x="1322819" y="2894342"/>
            <a:ext cx="3695494" cy="1782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椭圆 52">
            <a:extLst>
              <a:ext uri="{FF2B5EF4-FFF2-40B4-BE49-F238E27FC236}">
                <a16:creationId xmlns:a16="http://schemas.microsoft.com/office/drawing/2014/main" id="{77253B76-AF47-E2BF-65AE-3A7EF3AA35DD}"/>
              </a:ext>
            </a:extLst>
          </p:cNvPr>
          <p:cNvSpPr/>
          <p:nvPr/>
        </p:nvSpPr>
        <p:spPr>
          <a:xfrm>
            <a:off x="2934791" y="2804342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80C54155-9264-04B7-94DA-4C8A7EE3F9C3}"/>
              </a:ext>
            </a:extLst>
          </p:cNvPr>
          <p:cNvCxnSpPr>
            <a:cxnSpLocks/>
            <a:stCxn id="5" idx="7"/>
            <a:endCxn id="53" idx="2"/>
          </p:cNvCxnSpPr>
          <p:nvPr/>
        </p:nvCxnSpPr>
        <p:spPr>
          <a:xfrm flipV="1">
            <a:off x="1386459" y="2894342"/>
            <a:ext cx="1548332" cy="337045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8F8792AF-7D1E-0DAF-C899-0839B68F67E6}"/>
              </a:ext>
            </a:extLst>
          </p:cNvPr>
          <p:cNvCxnSpPr>
            <a:cxnSpLocks/>
            <a:stCxn id="7" idx="0"/>
            <a:endCxn id="53" idx="5"/>
          </p:cNvCxnSpPr>
          <p:nvPr/>
        </p:nvCxnSpPr>
        <p:spPr>
          <a:xfrm flipH="1" flipV="1">
            <a:off x="3088431" y="2957982"/>
            <a:ext cx="774476" cy="1381579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F873C808-34C7-55DA-01B1-1B763B7FB13E}"/>
              </a:ext>
            </a:extLst>
          </p:cNvPr>
          <p:cNvSpPr txBox="1"/>
          <p:nvPr/>
        </p:nvSpPr>
        <p:spPr>
          <a:xfrm>
            <a:off x="3034984" y="2521197"/>
            <a:ext cx="450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O‘’</a:t>
            </a:r>
            <a:endParaRPr kumimoji="1"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5BA95621-BCD6-5666-186A-758908679789}"/>
              </a:ext>
            </a:extLst>
          </p:cNvPr>
          <p:cNvSpPr txBox="1"/>
          <p:nvPr/>
        </p:nvSpPr>
        <p:spPr>
          <a:xfrm>
            <a:off x="4952493" y="165358"/>
            <a:ext cx="3641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OO’’A = </a:t>
            </a:r>
            <a:r>
              <a:rPr kumimoji="1" lang="en-US" altLang="zh-CN" dirty="0" err="1"/>
              <a:t>arcsin</a:t>
            </a:r>
            <a:r>
              <a:rPr kumimoji="1" lang="en-US" altLang="zh-CN" dirty="0"/>
              <a:t>(|OA/2| / |OO’’|) * 2</a:t>
            </a:r>
            <a:endParaRPr kumimoji="1" lang="zh-CN" altLang="en-US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5C79F2BE-1988-4EBC-38AC-BCD1860BF8C8}"/>
              </a:ext>
            </a:extLst>
          </p:cNvPr>
          <p:cNvSpPr txBox="1"/>
          <p:nvPr/>
        </p:nvSpPr>
        <p:spPr>
          <a:xfrm>
            <a:off x="4953130" y="819719"/>
            <a:ext cx="2473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 err="1"/>
              <a:t>A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 err="1"/>
              <a:t>OA</a:t>
            </a:r>
            <a:r>
              <a:rPr kumimoji="1" lang="en-US" altLang="zh-CN" dirty="0"/>
              <a:t> = arctan(A</a:t>
            </a:r>
            <a:r>
              <a:rPr kumimoji="1" lang="en-US" altLang="zh-CN" baseline="-25000" dirty="0"/>
              <a:t>y</a:t>
            </a:r>
            <a:r>
              <a:rPr kumimoji="1" lang="en-US" altLang="zh-CN" dirty="0"/>
              <a:t> / A</a:t>
            </a:r>
            <a:r>
              <a:rPr kumimoji="1" lang="en-US" altLang="zh-CN" baseline="-25000" dirty="0"/>
              <a:t>x</a:t>
            </a:r>
            <a:r>
              <a:rPr kumimoji="1" lang="en-US" altLang="zh-CN" dirty="0"/>
              <a:t>)  </a:t>
            </a:r>
            <a:endParaRPr kumimoji="1" lang="zh-CN" altLang="en-US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939C773-0B05-078A-462F-F60FED66DE97}"/>
              </a:ext>
            </a:extLst>
          </p:cNvPr>
          <p:cNvSpPr txBox="1"/>
          <p:nvPr/>
        </p:nvSpPr>
        <p:spPr>
          <a:xfrm>
            <a:off x="4948184" y="492539"/>
            <a:ext cx="3373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AOO’’ = </a:t>
            </a:r>
            <a:r>
              <a:rPr kumimoji="1" lang="en-US" altLang="zh-CN" dirty="0" err="1"/>
              <a:t>arccos</a:t>
            </a:r>
            <a:r>
              <a:rPr kumimoji="1" lang="en-US" altLang="zh-CN" dirty="0"/>
              <a:t>(|OA/2| / |OO’’|)</a:t>
            </a:r>
            <a:endParaRPr kumimoji="1" lang="zh-CN" altLang="en-US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9881F807-28AC-D997-63EA-F5291C127BAD}"/>
              </a:ext>
            </a:extLst>
          </p:cNvPr>
          <p:cNvSpPr txBox="1"/>
          <p:nvPr/>
        </p:nvSpPr>
        <p:spPr>
          <a:xfrm>
            <a:off x="4925257" y="4604616"/>
            <a:ext cx="2675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 err="1"/>
              <a:t>A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 err="1"/>
              <a:t>OO</a:t>
            </a:r>
            <a:r>
              <a:rPr kumimoji="1" lang="en-US" altLang="zh-CN" dirty="0"/>
              <a:t>’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AOO’ + </a:t>
            </a:r>
            <a:r>
              <a:rPr kumimoji="1" lang="zh-CN" altLang="en-US" dirty="0"/>
              <a:t>∠</a:t>
            </a:r>
            <a:r>
              <a:rPr kumimoji="1" lang="en-US" altLang="zh-CN" dirty="0" err="1"/>
              <a:t>AOA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4DF8413-506B-73F1-511C-FB6DA08C4A25}"/>
              </a:ext>
            </a:extLst>
          </p:cNvPr>
          <p:cNvSpPr txBox="1"/>
          <p:nvPr/>
        </p:nvSpPr>
        <p:spPr>
          <a:xfrm>
            <a:off x="905150" y="4574425"/>
            <a:ext cx="460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O’</a:t>
            </a:r>
            <a:r>
              <a:rPr kumimoji="1" lang="en-US" altLang="zh-CN" baseline="-25000" dirty="0" err="1"/>
              <a:t>y</a:t>
            </a:r>
            <a:endParaRPr kumimoji="1" lang="zh-CN" altLang="en-US" baseline="-250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72241D47-689A-D326-7785-41B7961BD7E2}"/>
              </a:ext>
            </a:extLst>
          </p:cNvPr>
          <p:cNvSpPr txBox="1"/>
          <p:nvPr/>
        </p:nvSpPr>
        <p:spPr>
          <a:xfrm>
            <a:off x="4928206" y="1464175"/>
            <a:ext cx="3291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OO’’ </a:t>
            </a:r>
            <a:r>
              <a:rPr kumimoji="1" lang="en-US" altLang="zh-CN" dirty="0" err="1"/>
              <a:t>A’’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/>
              <a:t> = </a:t>
            </a:r>
            <a:r>
              <a:rPr kumimoji="1" lang="el-GR" altLang="zh-CN" dirty="0"/>
              <a:t>π</a:t>
            </a:r>
            <a:r>
              <a:rPr kumimoji="1" lang="en-US" altLang="zh-CN" dirty="0"/>
              <a:t> +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AOO’’ + </a:t>
            </a:r>
            <a:r>
              <a:rPr kumimoji="1" lang="zh-CN" altLang="en-US" dirty="0"/>
              <a:t>∠</a:t>
            </a:r>
            <a:r>
              <a:rPr kumimoji="1" lang="en-US" altLang="zh-CN" dirty="0" err="1"/>
              <a:t>A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 err="1"/>
              <a:t>OA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CFC1B29D-0BAB-99A5-2A26-7F9C66F30B99}"/>
              </a:ext>
            </a:extLst>
          </p:cNvPr>
          <p:cNvSpPr txBox="1"/>
          <p:nvPr/>
        </p:nvSpPr>
        <p:spPr>
          <a:xfrm>
            <a:off x="4928205" y="1168329"/>
            <a:ext cx="297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OO’’ </a:t>
            </a:r>
            <a:r>
              <a:rPr kumimoji="1" lang="en-US" altLang="zh-CN" dirty="0" err="1"/>
              <a:t>O’’</a:t>
            </a:r>
            <a:r>
              <a:rPr kumimoji="1" lang="en-US" altLang="zh-CN" baseline="-25000" dirty="0" err="1"/>
              <a:t>y</a:t>
            </a:r>
            <a:r>
              <a:rPr kumimoji="1" lang="en-US" altLang="zh-CN" dirty="0"/>
              <a:t>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AOO’’ + </a:t>
            </a:r>
            <a:r>
              <a:rPr kumimoji="1" lang="zh-CN" altLang="en-US" dirty="0"/>
              <a:t>∠</a:t>
            </a:r>
            <a:r>
              <a:rPr kumimoji="1" lang="en-US" altLang="zh-CN" dirty="0" err="1"/>
              <a:t>A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 err="1"/>
              <a:t>OA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D31ED35D-2707-D403-081A-68522288280F}"/>
              </a:ext>
            </a:extLst>
          </p:cNvPr>
          <p:cNvSpPr txBox="1"/>
          <p:nvPr/>
        </p:nvSpPr>
        <p:spPr>
          <a:xfrm>
            <a:off x="834261" y="2642841"/>
            <a:ext cx="517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O’’</a:t>
            </a:r>
            <a:r>
              <a:rPr kumimoji="1" lang="en-US" altLang="zh-CN" baseline="-25000" dirty="0" err="1"/>
              <a:t>y</a:t>
            </a:r>
            <a:endParaRPr kumimoji="1" lang="zh-CN" altLang="en-US" baseline="-25000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F4795F43-2C83-E671-4FBF-572B473605AF}"/>
              </a:ext>
            </a:extLst>
          </p:cNvPr>
          <p:cNvSpPr txBox="1"/>
          <p:nvPr/>
        </p:nvSpPr>
        <p:spPr>
          <a:xfrm>
            <a:off x="3718369" y="2529710"/>
            <a:ext cx="488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A’’</a:t>
            </a:r>
            <a:r>
              <a:rPr kumimoji="1" lang="en-US" altLang="zh-CN" baseline="-25000" dirty="0" err="1"/>
              <a:t>x</a:t>
            </a:r>
            <a:endParaRPr kumimoji="1" lang="zh-CN" altLang="en-US" baseline="-25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2DDB7F-B589-F66D-123A-24815ACA7C7A}"/>
              </a:ext>
            </a:extLst>
          </p:cNvPr>
          <p:cNvSpPr txBox="1"/>
          <p:nvPr/>
        </p:nvSpPr>
        <p:spPr>
          <a:xfrm>
            <a:off x="4637651" y="5305703"/>
            <a:ext cx="2554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If </a:t>
            </a:r>
            <a:r>
              <a:rPr kumimoji="1" lang="en-US" altLang="zh-CN" dirty="0" err="1"/>
              <a:t>closewise</a:t>
            </a:r>
            <a:r>
              <a:rPr kumimoji="1" lang="en-US" altLang="zh-CN" dirty="0"/>
              <a:t> and small arc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E1FB00-2A4F-3C46-E68A-D90D593167D2}"/>
              </a:ext>
            </a:extLst>
          </p:cNvPr>
          <p:cNvSpPr txBox="1"/>
          <p:nvPr/>
        </p:nvSpPr>
        <p:spPr>
          <a:xfrm>
            <a:off x="5136898" y="5601549"/>
            <a:ext cx="2125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from_arc</a:t>
            </a:r>
            <a:r>
              <a:rPr kumimoji="1" lang="en-US" altLang="zh-CN" dirty="0"/>
              <a:t>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OO’ </a:t>
            </a:r>
            <a:r>
              <a:rPr kumimoji="1" lang="en-US" altLang="zh-CN" dirty="0" err="1"/>
              <a:t>A’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12CD0D8-0B00-DD29-1932-E575E6C88CC4}"/>
              </a:ext>
            </a:extLst>
          </p:cNvPr>
          <p:cNvSpPr txBox="1"/>
          <p:nvPr/>
        </p:nvSpPr>
        <p:spPr>
          <a:xfrm>
            <a:off x="5127788" y="5937535"/>
            <a:ext cx="2664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to_arc</a:t>
            </a:r>
            <a:r>
              <a:rPr kumimoji="1" lang="en-US" altLang="zh-CN" dirty="0"/>
              <a:t>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OO’ </a:t>
            </a:r>
            <a:r>
              <a:rPr kumimoji="1" lang="en-US" altLang="zh-CN" dirty="0" err="1"/>
              <a:t>A’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/>
              <a:t> -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OO’A 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C2DE444-C078-192D-FB3E-149750A33311}"/>
              </a:ext>
            </a:extLst>
          </p:cNvPr>
          <p:cNvSpPr txBox="1"/>
          <p:nvPr/>
        </p:nvSpPr>
        <p:spPr>
          <a:xfrm>
            <a:off x="8377200" y="5305703"/>
            <a:ext cx="2957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If anti-</a:t>
            </a:r>
            <a:r>
              <a:rPr kumimoji="1" lang="en-US" altLang="zh-CN" dirty="0" err="1"/>
              <a:t>closewise</a:t>
            </a:r>
            <a:r>
              <a:rPr kumimoji="1" lang="en-US" altLang="zh-CN" dirty="0"/>
              <a:t> and large arc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C1B47B8-4811-750F-6610-1FE320736F05}"/>
              </a:ext>
            </a:extLst>
          </p:cNvPr>
          <p:cNvSpPr txBox="1"/>
          <p:nvPr/>
        </p:nvSpPr>
        <p:spPr>
          <a:xfrm>
            <a:off x="8876447" y="5601549"/>
            <a:ext cx="2293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from_arc</a:t>
            </a:r>
            <a:r>
              <a:rPr kumimoji="1" lang="en-US" altLang="zh-CN" dirty="0"/>
              <a:t> =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OO’ </a:t>
            </a:r>
            <a:r>
              <a:rPr kumimoji="1" lang="en-US" altLang="zh-CN" dirty="0" err="1"/>
              <a:t>A’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F030605-7846-AA35-5E07-616CFB366A15}"/>
              </a:ext>
            </a:extLst>
          </p:cNvPr>
          <p:cNvSpPr txBox="1"/>
          <p:nvPr/>
        </p:nvSpPr>
        <p:spPr>
          <a:xfrm>
            <a:off x="8867337" y="5937535"/>
            <a:ext cx="3271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to_arc</a:t>
            </a:r>
            <a:r>
              <a:rPr kumimoji="1" lang="en-US" altLang="zh-CN" dirty="0"/>
              <a:t>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OO’ </a:t>
            </a:r>
            <a:r>
              <a:rPr kumimoji="1" lang="en-US" altLang="zh-CN" dirty="0" err="1"/>
              <a:t>A’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/>
              <a:t> + (2</a:t>
            </a:r>
            <a:r>
              <a:rPr kumimoji="1" lang="el-GR" altLang="zh-CN" dirty="0"/>
              <a:t>π</a:t>
            </a:r>
            <a:r>
              <a:rPr kumimoji="1" lang="en-US" altLang="zh-CN" dirty="0"/>
              <a:t> -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OO’A) 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2156824-A430-2FF7-E635-B646FF2F9305}"/>
              </a:ext>
            </a:extLst>
          </p:cNvPr>
          <p:cNvSpPr txBox="1"/>
          <p:nvPr/>
        </p:nvSpPr>
        <p:spPr>
          <a:xfrm>
            <a:off x="4928205" y="1948350"/>
            <a:ext cx="2526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If </a:t>
            </a:r>
            <a:r>
              <a:rPr kumimoji="1" lang="en-US" altLang="zh-CN" dirty="0" err="1"/>
              <a:t>closewise</a:t>
            </a:r>
            <a:r>
              <a:rPr kumimoji="1" lang="en-US" altLang="zh-CN" dirty="0"/>
              <a:t> and large arc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932CD33-446B-68D0-A8E8-D5A2F4176485}"/>
              </a:ext>
            </a:extLst>
          </p:cNvPr>
          <p:cNvSpPr txBox="1"/>
          <p:nvPr/>
        </p:nvSpPr>
        <p:spPr>
          <a:xfrm>
            <a:off x="5427452" y="2244196"/>
            <a:ext cx="2240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from_arc</a:t>
            </a:r>
            <a:r>
              <a:rPr kumimoji="1" lang="en-US" altLang="zh-CN" dirty="0"/>
              <a:t>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OO’’ </a:t>
            </a:r>
            <a:r>
              <a:rPr kumimoji="1" lang="en-US" altLang="zh-CN" dirty="0" err="1"/>
              <a:t>A’’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1911A78-DEE8-3265-0E55-EB15D44A76E0}"/>
              </a:ext>
            </a:extLst>
          </p:cNvPr>
          <p:cNvSpPr txBox="1"/>
          <p:nvPr/>
        </p:nvSpPr>
        <p:spPr>
          <a:xfrm>
            <a:off x="5418342" y="2580182"/>
            <a:ext cx="3444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to_arc</a:t>
            </a:r>
            <a:r>
              <a:rPr kumimoji="1" lang="en-US" altLang="zh-CN" dirty="0"/>
              <a:t>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OO’’ </a:t>
            </a:r>
            <a:r>
              <a:rPr kumimoji="1" lang="en-US" altLang="zh-CN" dirty="0" err="1"/>
              <a:t>A’’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/>
              <a:t> – (2</a:t>
            </a:r>
            <a:r>
              <a:rPr kumimoji="1" lang="el-GR" altLang="zh-CN" dirty="0"/>
              <a:t>π </a:t>
            </a:r>
            <a:r>
              <a:rPr kumimoji="1" lang="en-US" altLang="zh-CN" dirty="0"/>
              <a:t>-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OO’’A) 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6E527F6-136F-363A-52CA-31FDD8E7FF82}"/>
              </a:ext>
            </a:extLst>
          </p:cNvPr>
          <p:cNvSpPr txBox="1"/>
          <p:nvPr/>
        </p:nvSpPr>
        <p:spPr>
          <a:xfrm>
            <a:off x="8667754" y="1948350"/>
            <a:ext cx="2984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If anti-</a:t>
            </a:r>
            <a:r>
              <a:rPr kumimoji="1" lang="en-US" altLang="zh-CN" dirty="0" err="1"/>
              <a:t>closewise</a:t>
            </a:r>
            <a:r>
              <a:rPr kumimoji="1" lang="en-US" altLang="zh-CN" dirty="0"/>
              <a:t> and small arc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9C624C9-5096-1CB4-5F21-CC025A2D4865}"/>
              </a:ext>
            </a:extLst>
          </p:cNvPr>
          <p:cNvSpPr txBox="1"/>
          <p:nvPr/>
        </p:nvSpPr>
        <p:spPr>
          <a:xfrm>
            <a:off x="9167001" y="2244196"/>
            <a:ext cx="2240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from_arc</a:t>
            </a:r>
            <a:r>
              <a:rPr kumimoji="1" lang="en-US" altLang="zh-CN" dirty="0"/>
              <a:t>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OO’’ </a:t>
            </a:r>
            <a:r>
              <a:rPr kumimoji="1" lang="en-US" altLang="zh-CN" dirty="0" err="1"/>
              <a:t>A’’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F6A9989-B04E-4F92-7038-9FEB29DC216A}"/>
              </a:ext>
            </a:extLst>
          </p:cNvPr>
          <p:cNvSpPr txBox="1"/>
          <p:nvPr/>
        </p:nvSpPr>
        <p:spPr>
          <a:xfrm>
            <a:off x="9157891" y="2580182"/>
            <a:ext cx="2996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to_arc</a:t>
            </a:r>
            <a:r>
              <a:rPr kumimoji="1" lang="en-US" altLang="zh-CN" dirty="0"/>
              <a:t>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OO’’ </a:t>
            </a:r>
            <a:r>
              <a:rPr kumimoji="1" lang="en-US" altLang="zh-CN" dirty="0" err="1"/>
              <a:t>A’’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/>
              <a:t> +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OO’’A </a:t>
            </a:r>
            <a:endParaRPr kumimoji="1"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B204A17-EFD8-7A96-DF1B-7BE083B51788}"/>
              </a:ext>
            </a:extLst>
          </p:cNvPr>
          <p:cNvSpPr txBox="1"/>
          <p:nvPr/>
        </p:nvSpPr>
        <p:spPr>
          <a:xfrm>
            <a:off x="2852104" y="3267957"/>
            <a:ext cx="512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O‘’</a:t>
            </a:r>
            <a:r>
              <a:rPr kumimoji="1" lang="en-US" altLang="zh-CN" baseline="-25000" dirty="0" err="1"/>
              <a:t>x</a:t>
            </a:r>
            <a:endParaRPr kumimoji="1"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C570B1E-756D-5F06-5457-0A2BCDC09663}"/>
              </a:ext>
            </a:extLst>
          </p:cNvPr>
          <p:cNvSpPr txBox="1"/>
          <p:nvPr/>
        </p:nvSpPr>
        <p:spPr>
          <a:xfrm>
            <a:off x="1952944" y="3008877"/>
            <a:ext cx="458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O’</a:t>
            </a:r>
            <a:r>
              <a:rPr kumimoji="1" lang="en-US" altLang="zh-CN" baseline="-25000" dirty="0" err="1"/>
              <a:t>x</a:t>
            </a:r>
            <a:endParaRPr kumimoji="1"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F99E4CD-BAB2-3361-B693-F6B10E0E0267}"/>
              </a:ext>
            </a:extLst>
          </p:cNvPr>
          <p:cNvSpPr txBox="1"/>
          <p:nvPr/>
        </p:nvSpPr>
        <p:spPr>
          <a:xfrm>
            <a:off x="5473384" y="2993637"/>
            <a:ext cx="3059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O‘’</a:t>
            </a:r>
            <a:r>
              <a:rPr kumimoji="1" lang="en-US" altLang="zh-CN" baseline="-25000" dirty="0" err="1"/>
              <a:t>x</a:t>
            </a:r>
            <a:r>
              <a:rPr kumimoji="1" lang="en-US" altLang="zh-CN" baseline="-25000" dirty="0"/>
              <a:t> </a:t>
            </a:r>
            <a:r>
              <a:rPr kumimoji="1" lang="en-US" altLang="zh-CN" dirty="0"/>
              <a:t>= |OO’’| * cos(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OO’’ </a:t>
            </a:r>
            <a:r>
              <a:rPr kumimoji="1" lang="en-US" altLang="zh-CN" dirty="0" err="1"/>
              <a:t>O’’</a:t>
            </a:r>
            <a:r>
              <a:rPr kumimoji="1" lang="en-US" altLang="zh-CN" baseline="-25000" dirty="0" err="1"/>
              <a:t>y</a:t>
            </a:r>
            <a:r>
              <a:rPr kumimoji="1" lang="en-US" altLang="zh-CN" dirty="0"/>
              <a:t> )</a:t>
            </a:r>
            <a:r>
              <a:rPr kumimoji="1" lang="en-US" altLang="zh-CN" baseline="-25000" dirty="0"/>
              <a:t> </a:t>
            </a:r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F4765EA-2BD5-06C9-8B28-C65EAA4A232C}"/>
              </a:ext>
            </a:extLst>
          </p:cNvPr>
          <p:cNvSpPr txBox="1"/>
          <p:nvPr/>
        </p:nvSpPr>
        <p:spPr>
          <a:xfrm>
            <a:off x="8627615" y="2979798"/>
            <a:ext cx="3019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O‘’</a:t>
            </a:r>
            <a:r>
              <a:rPr kumimoji="1" lang="en-US" altLang="zh-CN" baseline="-25000" dirty="0" err="1"/>
              <a:t>y</a:t>
            </a:r>
            <a:r>
              <a:rPr kumimoji="1" lang="en-US" altLang="zh-CN" baseline="-25000" dirty="0"/>
              <a:t> </a:t>
            </a:r>
            <a:r>
              <a:rPr kumimoji="1" lang="en-US" altLang="zh-CN" dirty="0"/>
              <a:t>= |OO’’| * sin(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OO’’ </a:t>
            </a:r>
            <a:r>
              <a:rPr kumimoji="1" lang="en-US" altLang="zh-CN" dirty="0" err="1"/>
              <a:t>O’’</a:t>
            </a:r>
            <a:r>
              <a:rPr kumimoji="1" lang="en-US" altLang="zh-CN" baseline="-25000" dirty="0" err="1"/>
              <a:t>y</a:t>
            </a:r>
            <a:r>
              <a:rPr kumimoji="1" lang="en-US" altLang="zh-CN" dirty="0"/>
              <a:t> )</a:t>
            </a:r>
            <a:r>
              <a:rPr kumimoji="1" lang="en-US" altLang="zh-CN" baseline="-25000" dirty="0"/>
              <a:t> </a:t>
            </a:r>
            <a:endParaRPr kumimoji="1"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775ABF7-28B0-EAE3-8E55-CC2DC3DD0063}"/>
              </a:ext>
            </a:extLst>
          </p:cNvPr>
          <p:cNvSpPr txBox="1"/>
          <p:nvPr/>
        </p:nvSpPr>
        <p:spPr>
          <a:xfrm>
            <a:off x="5189861" y="6345618"/>
            <a:ext cx="2801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O‘</a:t>
            </a:r>
            <a:r>
              <a:rPr kumimoji="1" lang="en-US" altLang="zh-CN" baseline="-25000" dirty="0" err="1"/>
              <a:t>x</a:t>
            </a:r>
            <a:r>
              <a:rPr kumimoji="1" lang="en-US" altLang="zh-CN" baseline="-25000" dirty="0"/>
              <a:t> </a:t>
            </a:r>
            <a:r>
              <a:rPr kumimoji="1" lang="en-US" altLang="zh-CN" dirty="0"/>
              <a:t>= |OO’| * cos(</a:t>
            </a:r>
            <a:r>
              <a:rPr kumimoji="1" lang="zh-CN" altLang="en-US" dirty="0"/>
              <a:t>∠</a:t>
            </a:r>
            <a:r>
              <a:rPr kumimoji="1" lang="en-US" altLang="zh-CN" dirty="0" err="1"/>
              <a:t>A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 err="1"/>
              <a:t>OO</a:t>
            </a:r>
            <a:r>
              <a:rPr kumimoji="1" lang="en-US" altLang="zh-CN" dirty="0"/>
              <a:t>’ )</a:t>
            </a:r>
            <a:r>
              <a:rPr kumimoji="1" lang="en-US" altLang="zh-CN" baseline="-25000" dirty="0"/>
              <a:t> </a:t>
            </a:r>
            <a:endParaRPr kumimoji="1"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C46AA8D-4AB8-38F7-C9A7-A79F4F85F920}"/>
              </a:ext>
            </a:extLst>
          </p:cNvPr>
          <p:cNvSpPr txBox="1"/>
          <p:nvPr/>
        </p:nvSpPr>
        <p:spPr>
          <a:xfrm>
            <a:off x="8344092" y="6331779"/>
            <a:ext cx="2883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O‘’</a:t>
            </a:r>
            <a:r>
              <a:rPr kumimoji="1" lang="en-US" altLang="zh-CN" baseline="-25000" dirty="0" err="1"/>
              <a:t>y</a:t>
            </a:r>
            <a:r>
              <a:rPr kumimoji="1" lang="en-US" altLang="zh-CN" baseline="-25000" dirty="0"/>
              <a:t> </a:t>
            </a:r>
            <a:r>
              <a:rPr kumimoji="1" lang="en-US" altLang="zh-CN" dirty="0"/>
              <a:t>= -|OO’| * sin(</a:t>
            </a:r>
            <a:r>
              <a:rPr kumimoji="1" lang="zh-CN" altLang="en-US" dirty="0"/>
              <a:t>∠</a:t>
            </a:r>
            <a:r>
              <a:rPr kumimoji="1" lang="en-US" altLang="zh-CN" dirty="0" err="1"/>
              <a:t>A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 err="1"/>
              <a:t>OO</a:t>
            </a:r>
            <a:r>
              <a:rPr kumimoji="1" lang="en-US" altLang="zh-CN" dirty="0"/>
              <a:t>’ )</a:t>
            </a:r>
            <a:r>
              <a:rPr kumimoji="1" lang="en-US" altLang="zh-CN" baseline="-25000" dirty="0"/>
              <a:t> </a:t>
            </a:r>
            <a:endParaRPr kumimoji="1"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4750150-3B79-F9D6-9866-E8C0F4C3733F}"/>
              </a:ext>
            </a:extLst>
          </p:cNvPr>
          <p:cNvSpPr txBox="1"/>
          <p:nvPr/>
        </p:nvSpPr>
        <p:spPr>
          <a:xfrm>
            <a:off x="9430987" y="186081"/>
            <a:ext cx="2708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u="sng" dirty="0"/>
              <a:t>arc sweep angle</a:t>
            </a:r>
            <a:endParaRPr lang="zh-CN" altLang="en-US" u="sng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24835307-1DEF-F683-E2EF-838627D6E4B3}"/>
              </a:ext>
            </a:extLst>
          </p:cNvPr>
          <p:cNvSpPr txBox="1"/>
          <p:nvPr/>
        </p:nvSpPr>
        <p:spPr>
          <a:xfrm>
            <a:off x="9430987" y="491360"/>
            <a:ext cx="2708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u="sng" dirty="0"/>
              <a:t>positive angle</a:t>
            </a:r>
            <a:endParaRPr lang="zh-CN" altLang="en-US" u="sng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A984878B-9545-B266-572D-9042B4134822}"/>
              </a:ext>
            </a:extLst>
          </p:cNvPr>
          <p:cNvSpPr txBox="1"/>
          <p:nvPr/>
        </p:nvSpPr>
        <p:spPr>
          <a:xfrm>
            <a:off x="9430987" y="796639"/>
            <a:ext cx="2708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u="sng" dirty="0">
                <a:solidFill>
                  <a:srgbClr val="FF0000"/>
                </a:solidFill>
              </a:rPr>
              <a:t>negative angle</a:t>
            </a:r>
            <a:endParaRPr lang="zh-CN" altLang="en-US" u="sng" dirty="0">
              <a:solidFill>
                <a:srgbClr val="FF0000"/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3D833C8-766B-45CA-1334-797CFAF09E18}"/>
              </a:ext>
            </a:extLst>
          </p:cNvPr>
          <p:cNvSpPr txBox="1"/>
          <p:nvPr/>
        </p:nvSpPr>
        <p:spPr>
          <a:xfrm>
            <a:off x="9426247" y="1164367"/>
            <a:ext cx="2708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u="sng" dirty="0"/>
              <a:t>positive angle</a:t>
            </a:r>
            <a:endParaRPr lang="zh-CN" altLang="en-US" u="sng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84E8948F-0AA7-BC45-EF5E-769772C9EB90}"/>
              </a:ext>
            </a:extLst>
          </p:cNvPr>
          <p:cNvSpPr txBox="1"/>
          <p:nvPr/>
        </p:nvSpPr>
        <p:spPr>
          <a:xfrm>
            <a:off x="9339896" y="3631601"/>
            <a:ext cx="2708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u="sng" dirty="0"/>
              <a:t>arc sweep angle</a:t>
            </a:r>
            <a:endParaRPr lang="zh-CN" altLang="en-US" u="sng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6054FD7-26DF-9F37-A2A6-8424912F1EB8}"/>
              </a:ext>
            </a:extLst>
          </p:cNvPr>
          <p:cNvSpPr txBox="1"/>
          <p:nvPr/>
        </p:nvSpPr>
        <p:spPr>
          <a:xfrm>
            <a:off x="9339896" y="3936880"/>
            <a:ext cx="2708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u="sng" dirty="0">
                <a:solidFill>
                  <a:srgbClr val="FF0000"/>
                </a:solidFill>
              </a:rPr>
              <a:t>negative angle</a:t>
            </a:r>
            <a:endParaRPr lang="zh-CN" altLang="en-US" u="sng" dirty="0">
              <a:solidFill>
                <a:srgbClr val="FF0000"/>
              </a:solidFill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C2057D7-ADBE-CB58-6BE4-685C1ACE5CD9}"/>
              </a:ext>
            </a:extLst>
          </p:cNvPr>
          <p:cNvSpPr txBox="1"/>
          <p:nvPr/>
        </p:nvSpPr>
        <p:spPr>
          <a:xfrm>
            <a:off x="9339896" y="4242159"/>
            <a:ext cx="2708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u="sng" dirty="0">
                <a:solidFill>
                  <a:srgbClr val="FF0000"/>
                </a:solidFill>
              </a:rPr>
              <a:t>negative angle</a:t>
            </a:r>
            <a:endParaRPr lang="zh-CN" altLang="en-US" u="sng" dirty="0">
              <a:solidFill>
                <a:srgbClr val="FF0000"/>
              </a:solidFill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6D010D0-EEF2-3564-952A-B1DCB31F38A4}"/>
              </a:ext>
            </a:extLst>
          </p:cNvPr>
          <p:cNvSpPr txBox="1"/>
          <p:nvPr/>
        </p:nvSpPr>
        <p:spPr>
          <a:xfrm>
            <a:off x="9335156" y="4609887"/>
            <a:ext cx="2708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u="sng" dirty="0">
                <a:solidFill>
                  <a:srgbClr val="FF0000"/>
                </a:solidFill>
              </a:rPr>
              <a:t>negative angle</a:t>
            </a:r>
            <a:endParaRPr lang="zh-CN" altLang="en-US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556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713BC0C1-4CDC-F57E-D31C-10506593CF61}"/>
              </a:ext>
            </a:extLst>
          </p:cNvPr>
          <p:cNvSpPr/>
          <p:nvPr/>
        </p:nvSpPr>
        <p:spPr>
          <a:xfrm>
            <a:off x="338799" y="1140361"/>
            <a:ext cx="3465876" cy="34077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5CDE1D9-00CD-E36B-7B9B-EC2B822A5ED1}"/>
              </a:ext>
            </a:extLst>
          </p:cNvPr>
          <p:cNvSpPr/>
          <p:nvPr/>
        </p:nvSpPr>
        <p:spPr>
          <a:xfrm>
            <a:off x="1253115" y="2811560"/>
            <a:ext cx="3465876" cy="34077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742A19FB-B41E-A8AB-B838-9D0E549CA7CB}"/>
              </a:ext>
            </a:extLst>
          </p:cNvPr>
          <p:cNvCxnSpPr>
            <a:cxnSpLocks/>
          </p:cNvCxnSpPr>
          <p:nvPr/>
        </p:nvCxnSpPr>
        <p:spPr>
          <a:xfrm>
            <a:off x="35725" y="4338913"/>
            <a:ext cx="5017036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93A88777-4D35-C7EC-B09E-A39B6B2661E3}"/>
              </a:ext>
            </a:extLst>
          </p:cNvPr>
          <p:cNvCxnSpPr>
            <a:cxnSpLocks/>
          </p:cNvCxnSpPr>
          <p:nvPr/>
        </p:nvCxnSpPr>
        <p:spPr>
          <a:xfrm>
            <a:off x="1271421" y="1012627"/>
            <a:ext cx="21788" cy="503691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0B9042E6-5515-6218-AE30-8A1FE1872D5B}"/>
              </a:ext>
            </a:extLst>
          </p:cNvPr>
          <p:cNvSpPr/>
          <p:nvPr/>
        </p:nvSpPr>
        <p:spPr>
          <a:xfrm>
            <a:off x="1181421" y="4248913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DEF072AE-AA18-504D-997E-F7F8E2D13EE6}"/>
              </a:ext>
            </a:extLst>
          </p:cNvPr>
          <p:cNvCxnSpPr>
            <a:cxnSpLocks/>
          </p:cNvCxnSpPr>
          <p:nvPr/>
        </p:nvCxnSpPr>
        <p:spPr>
          <a:xfrm flipV="1">
            <a:off x="1293209" y="3032174"/>
            <a:ext cx="2500580" cy="130673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EBA663F4-3117-F1FB-F187-C8D30D69A2EB}"/>
              </a:ext>
            </a:extLst>
          </p:cNvPr>
          <p:cNvSpPr/>
          <p:nvPr/>
        </p:nvSpPr>
        <p:spPr>
          <a:xfrm>
            <a:off x="3703789" y="2942173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0CB57AE-24A1-821C-BCD8-9CF54C7CE22A}"/>
              </a:ext>
            </a:extLst>
          </p:cNvPr>
          <p:cNvSpPr/>
          <p:nvPr/>
        </p:nvSpPr>
        <p:spPr>
          <a:xfrm>
            <a:off x="2001337" y="2657508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886B9B7C-94C4-8682-E7B4-BA29AFC50789}"/>
              </a:ext>
            </a:extLst>
          </p:cNvPr>
          <p:cNvCxnSpPr>
            <a:cxnSpLocks/>
          </p:cNvCxnSpPr>
          <p:nvPr/>
        </p:nvCxnSpPr>
        <p:spPr>
          <a:xfrm>
            <a:off x="327913" y="2747508"/>
            <a:ext cx="410383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208F0399-A9D9-38B4-9D19-276DA1E94540}"/>
              </a:ext>
            </a:extLst>
          </p:cNvPr>
          <p:cNvCxnSpPr>
            <a:cxnSpLocks/>
          </p:cNvCxnSpPr>
          <p:nvPr/>
        </p:nvCxnSpPr>
        <p:spPr>
          <a:xfrm>
            <a:off x="2060851" y="1107703"/>
            <a:ext cx="0" cy="3213063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025995CC-72DB-610E-C2F0-B76B39565659}"/>
              </a:ext>
            </a:extLst>
          </p:cNvPr>
          <p:cNvCxnSpPr>
            <a:cxnSpLocks/>
            <a:endCxn id="10" idx="3"/>
          </p:cNvCxnSpPr>
          <p:nvPr/>
        </p:nvCxnSpPr>
        <p:spPr>
          <a:xfrm flipV="1">
            <a:off x="1359887" y="2811148"/>
            <a:ext cx="667810" cy="1463713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682710C3-C2CB-0D5E-C685-1833602EA5D8}"/>
              </a:ext>
            </a:extLst>
          </p:cNvPr>
          <p:cNvCxnSpPr>
            <a:cxnSpLocks/>
            <a:stCxn id="7" idx="2"/>
            <a:endCxn id="10" idx="6"/>
          </p:cNvCxnSpPr>
          <p:nvPr/>
        </p:nvCxnSpPr>
        <p:spPr>
          <a:xfrm flipH="1" flipV="1">
            <a:off x="2181337" y="2747508"/>
            <a:ext cx="1522452" cy="284665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45CA30E1-DE41-BC4B-53F1-BA11095F85A8}"/>
              </a:ext>
            </a:extLst>
          </p:cNvPr>
          <p:cNvCxnSpPr>
            <a:cxnSpLocks/>
            <a:stCxn id="29" idx="1"/>
            <a:endCxn id="10" idx="5"/>
          </p:cNvCxnSpPr>
          <p:nvPr/>
        </p:nvCxnSpPr>
        <p:spPr>
          <a:xfrm flipH="1" flipV="1">
            <a:off x="2154977" y="2811148"/>
            <a:ext cx="819769" cy="165188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114E5B6C-0BF2-49EB-82CE-87E4B379B765}"/>
              </a:ext>
            </a:extLst>
          </p:cNvPr>
          <p:cNvCxnSpPr>
            <a:cxnSpLocks/>
          </p:cNvCxnSpPr>
          <p:nvPr/>
        </p:nvCxnSpPr>
        <p:spPr>
          <a:xfrm>
            <a:off x="3042502" y="4320766"/>
            <a:ext cx="0" cy="219456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53643FBD-6644-3CC1-6420-B367D94C6E32}"/>
              </a:ext>
            </a:extLst>
          </p:cNvPr>
          <p:cNvCxnSpPr>
            <a:cxnSpLocks/>
          </p:cNvCxnSpPr>
          <p:nvPr/>
        </p:nvCxnSpPr>
        <p:spPr>
          <a:xfrm>
            <a:off x="1271421" y="4545169"/>
            <a:ext cx="374993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>
            <a:extLst>
              <a:ext uri="{FF2B5EF4-FFF2-40B4-BE49-F238E27FC236}">
                <a16:creationId xmlns:a16="http://schemas.microsoft.com/office/drawing/2014/main" id="{994F33BB-ABF2-31A6-0727-18E792652F5B}"/>
              </a:ext>
            </a:extLst>
          </p:cNvPr>
          <p:cNvSpPr/>
          <p:nvPr/>
        </p:nvSpPr>
        <p:spPr>
          <a:xfrm>
            <a:off x="2948386" y="4436672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3C98B862-721E-88D4-47E2-12455BF5938A}"/>
              </a:ext>
            </a:extLst>
          </p:cNvPr>
          <p:cNvCxnSpPr>
            <a:cxnSpLocks/>
            <a:endCxn id="29" idx="2"/>
          </p:cNvCxnSpPr>
          <p:nvPr/>
        </p:nvCxnSpPr>
        <p:spPr>
          <a:xfrm>
            <a:off x="1291151" y="4353890"/>
            <a:ext cx="1657235" cy="172782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DE5142BB-C1C2-26FB-42F1-0233EAD80600}"/>
              </a:ext>
            </a:extLst>
          </p:cNvPr>
          <p:cNvCxnSpPr>
            <a:cxnSpLocks/>
            <a:stCxn id="29" idx="7"/>
          </p:cNvCxnSpPr>
          <p:nvPr/>
        </p:nvCxnSpPr>
        <p:spPr>
          <a:xfrm flipV="1">
            <a:off x="3102026" y="2823453"/>
            <a:ext cx="715345" cy="1639579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33FD2A4C-2D3E-B4F8-0505-334A337D2DC8}"/>
              </a:ext>
            </a:extLst>
          </p:cNvPr>
          <p:cNvSpPr txBox="1"/>
          <p:nvPr/>
        </p:nvSpPr>
        <p:spPr>
          <a:xfrm>
            <a:off x="911971" y="4267182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O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9315B2E-D8B7-3E24-0E1D-4662C42C3169}"/>
              </a:ext>
            </a:extLst>
          </p:cNvPr>
          <p:cNvSpPr txBox="1"/>
          <p:nvPr/>
        </p:nvSpPr>
        <p:spPr>
          <a:xfrm>
            <a:off x="3865360" y="277718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CF17588-670F-8AA7-475D-F1F73D98DBA3}"/>
              </a:ext>
            </a:extLst>
          </p:cNvPr>
          <p:cNvSpPr txBox="1"/>
          <p:nvPr/>
        </p:nvSpPr>
        <p:spPr>
          <a:xfrm>
            <a:off x="2631918" y="4550210"/>
            <a:ext cx="396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O’</a:t>
            </a:r>
            <a:endParaRPr kumimoji="1" lang="zh-CN" altLang="en-US" dirty="0"/>
          </a:p>
        </p:txBody>
      </p: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694C3DA0-8E6F-5D3E-5EB1-37E5A5F1C0DE}"/>
              </a:ext>
            </a:extLst>
          </p:cNvPr>
          <p:cNvCxnSpPr>
            <a:cxnSpLocks/>
          </p:cNvCxnSpPr>
          <p:nvPr/>
        </p:nvCxnSpPr>
        <p:spPr>
          <a:xfrm>
            <a:off x="3804675" y="2466884"/>
            <a:ext cx="18306" cy="207475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62AA98FA-FC40-9849-192C-C2080B0B945F}"/>
              </a:ext>
            </a:extLst>
          </p:cNvPr>
          <p:cNvSpPr txBox="1"/>
          <p:nvPr/>
        </p:nvSpPr>
        <p:spPr>
          <a:xfrm>
            <a:off x="3819865" y="3984558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</a:t>
            </a:r>
            <a:r>
              <a:rPr kumimoji="1" lang="en-US" altLang="zh-CN" baseline="-25000" dirty="0"/>
              <a:t>x</a:t>
            </a:r>
            <a:endParaRPr kumimoji="1" lang="zh-CN" altLang="en-US" baseline="-250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A51BE0C-6C1B-34FA-4438-FB63B2991D84}"/>
              </a:ext>
            </a:extLst>
          </p:cNvPr>
          <p:cNvSpPr txBox="1"/>
          <p:nvPr/>
        </p:nvSpPr>
        <p:spPr>
          <a:xfrm>
            <a:off x="4709341" y="3944116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X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8A90191-B162-D834-70F9-AC7B0377E4E7}"/>
              </a:ext>
            </a:extLst>
          </p:cNvPr>
          <p:cNvSpPr txBox="1"/>
          <p:nvPr/>
        </p:nvSpPr>
        <p:spPr>
          <a:xfrm>
            <a:off x="1113046" y="641898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Y</a:t>
            </a:r>
            <a:endParaRPr kumimoji="1"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2115BB5-639B-288A-8819-28536D2315DF}"/>
              </a:ext>
            </a:extLst>
          </p:cNvPr>
          <p:cNvSpPr txBox="1"/>
          <p:nvPr/>
        </p:nvSpPr>
        <p:spPr>
          <a:xfrm>
            <a:off x="3800131" y="4538374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A’</a:t>
            </a:r>
            <a:r>
              <a:rPr kumimoji="1" lang="en-US" altLang="zh-CN" baseline="-25000" dirty="0" err="1"/>
              <a:t>x</a:t>
            </a:r>
            <a:endParaRPr kumimoji="1" lang="zh-CN" altLang="en-US" baseline="-25000" dirty="0"/>
          </a:p>
        </p:txBody>
      </p: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2B6A2AED-8AE0-9F78-805B-F00436C522A6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291151" y="3032173"/>
            <a:ext cx="2412638" cy="430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F48CEC64-CA93-E019-09DE-F9D2D07C46D7}"/>
              </a:ext>
            </a:extLst>
          </p:cNvPr>
          <p:cNvSpPr txBox="1"/>
          <p:nvPr/>
        </p:nvSpPr>
        <p:spPr>
          <a:xfrm>
            <a:off x="930984" y="2791893"/>
            <a:ext cx="382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</a:t>
            </a:r>
            <a:r>
              <a:rPr kumimoji="1" lang="en-US" altLang="zh-CN" baseline="-25000" dirty="0"/>
              <a:t>y</a:t>
            </a:r>
            <a:endParaRPr kumimoji="1" lang="zh-CN" altLang="en-US" baseline="-25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B8992F0-0539-6B12-8FE1-23E0128CBE15}"/>
              </a:ext>
            </a:extLst>
          </p:cNvPr>
          <p:cNvSpPr txBox="1"/>
          <p:nvPr/>
        </p:nvSpPr>
        <p:spPr>
          <a:xfrm>
            <a:off x="892664" y="4521764"/>
            <a:ext cx="460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O’</a:t>
            </a:r>
            <a:r>
              <a:rPr kumimoji="1" lang="en-US" altLang="zh-CN" baseline="-25000" dirty="0" err="1"/>
              <a:t>y</a:t>
            </a:r>
            <a:endParaRPr kumimoji="1" lang="zh-CN" altLang="en-US" baseline="-250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B4CBCA4-C7E7-E102-9922-6BDDCF67E60A}"/>
              </a:ext>
            </a:extLst>
          </p:cNvPr>
          <p:cNvSpPr txBox="1"/>
          <p:nvPr/>
        </p:nvSpPr>
        <p:spPr>
          <a:xfrm>
            <a:off x="298063" y="197182"/>
            <a:ext cx="2822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Arc from world origin O to A</a:t>
            </a:r>
            <a:endParaRPr kumimoji="1"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EB9A4D9-F823-CA05-42F0-030C40AC1924}"/>
              </a:ext>
            </a:extLst>
          </p:cNvPr>
          <p:cNvSpPr txBox="1"/>
          <p:nvPr/>
        </p:nvSpPr>
        <p:spPr>
          <a:xfrm>
            <a:off x="2086907" y="2399805"/>
            <a:ext cx="450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O‘’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A303FB3-EA47-192C-E2E7-C8AD792164FB}"/>
              </a:ext>
            </a:extLst>
          </p:cNvPr>
          <p:cNvSpPr txBox="1"/>
          <p:nvPr/>
        </p:nvSpPr>
        <p:spPr>
          <a:xfrm>
            <a:off x="3832788" y="2383004"/>
            <a:ext cx="488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A’’</a:t>
            </a:r>
            <a:r>
              <a:rPr kumimoji="1" lang="en-US" altLang="zh-CN" baseline="-25000" dirty="0" err="1"/>
              <a:t>x</a:t>
            </a:r>
            <a:endParaRPr kumimoji="1" lang="zh-CN" altLang="en-US" baseline="-250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D8626301-6081-1264-9789-84C3F89EEE35}"/>
              </a:ext>
            </a:extLst>
          </p:cNvPr>
          <p:cNvSpPr txBox="1"/>
          <p:nvPr/>
        </p:nvSpPr>
        <p:spPr>
          <a:xfrm>
            <a:off x="942098" y="2445248"/>
            <a:ext cx="517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O’’</a:t>
            </a:r>
            <a:r>
              <a:rPr kumimoji="1" lang="en-US" altLang="zh-CN" baseline="-25000" dirty="0" err="1"/>
              <a:t>y</a:t>
            </a:r>
            <a:endParaRPr kumimoji="1" lang="zh-CN" altLang="en-US" baseline="-25000" dirty="0"/>
          </a:p>
        </p:txBody>
      </p:sp>
      <p:sp>
        <p:nvSpPr>
          <p:cNvPr id="63" name="弧 62">
            <a:extLst>
              <a:ext uri="{FF2B5EF4-FFF2-40B4-BE49-F238E27FC236}">
                <a16:creationId xmlns:a16="http://schemas.microsoft.com/office/drawing/2014/main" id="{09830B24-DDE6-B4CD-2D1E-FDEA5AA363BF}"/>
              </a:ext>
            </a:extLst>
          </p:cNvPr>
          <p:cNvSpPr/>
          <p:nvPr/>
        </p:nvSpPr>
        <p:spPr>
          <a:xfrm rot="1645015">
            <a:off x="2964819" y="4331606"/>
            <a:ext cx="293390" cy="290697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弧 63">
            <a:extLst>
              <a:ext uri="{FF2B5EF4-FFF2-40B4-BE49-F238E27FC236}">
                <a16:creationId xmlns:a16="http://schemas.microsoft.com/office/drawing/2014/main" id="{4CD2AFA0-CAC9-C9D8-F03E-C1F860A99F03}"/>
              </a:ext>
            </a:extLst>
          </p:cNvPr>
          <p:cNvSpPr/>
          <p:nvPr/>
        </p:nvSpPr>
        <p:spPr>
          <a:xfrm rot="3605702">
            <a:off x="2441224" y="2691009"/>
            <a:ext cx="161922" cy="150543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423CD1F8-1CAD-B5F9-D36A-E356244B2FFE}"/>
              </a:ext>
            </a:extLst>
          </p:cNvPr>
          <p:cNvSpPr txBox="1"/>
          <p:nvPr/>
        </p:nvSpPr>
        <p:spPr>
          <a:xfrm>
            <a:off x="5118430" y="3646015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OO’A = </a:t>
            </a:r>
            <a:r>
              <a:rPr kumimoji="1" lang="en-US" altLang="zh-CN" dirty="0" err="1"/>
              <a:t>arcsin</a:t>
            </a:r>
            <a:r>
              <a:rPr kumimoji="1" lang="en-US" altLang="zh-CN" dirty="0"/>
              <a:t>(|OB| / |OO’|) * 2</a:t>
            </a:r>
            <a:endParaRPr kumimoji="1" lang="zh-CN" altLang="en-US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F1599DC4-4144-B17F-D49E-EACF70106A7B}"/>
              </a:ext>
            </a:extLst>
          </p:cNvPr>
          <p:cNvSpPr txBox="1"/>
          <p:nvPr/>
        </p:nvSpPr>
        <p:spPr>
          <a:xfrm>
            <a:off x="5115559" y="4247741"/>
            <a:ext cx="2364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 err="1"/>
              <a:t>AOA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/>
              <a:t> = arctan(A</a:t>
            </a:r>
            <a:r>
              <a:rPr kumimoji="1" lang="en-US" altLang="zh-CN" baseline="-25000" dirty="0"/>
              <a:t>y</a:t>
            </a:r>
            <a:r>
              <a:rPr kumimoji="1" lang="en-US" altLang="zh-CN" dirty="0"/>
              <a:t> / A</a:t>
            </a:r>
            <a:r>
              <a:rPr kumimoji="1" lang="en-US" altLang="zh-CN" baseline="-25000" dirty="0"/>
              <a:t>x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BA8B2820-747F-278F-B7A6-F8D5471845A8}"/>
              </a:ext>
            </a:extLst>
          </p:cNvPr>
          <p:cNvSpPr txBox="1"/>
          <p:nvPr/>
        </p:nvSpPr>
        <p:spPr>
          <a:xfrm>
            <a:off x="5095967" y="3941090"/>
            <a:ext cx="322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AOO’ = - </a:t>
            </a:r>
            <a:r>
              <a:rPr kumimoji="1" lang="en-US" altLang="zh-CN" dirty="0" err="1"/>
              <a:t>arccos</a:t>
            </a:r>
            <a:r>
              <a:rPr kumimoji="1" lang="en-US" altLang="zh-CN" dirty="0"/>
              <a:t>(|OB| / |OO’|) </a:t>
            </a:r>
            <a:endParaRPr kumimoji="1"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B7BEC738-EF5E-74D2-526F-252275E80D43}"/>
              </a:ext>
            </a:extLst>
          </p:cNvPr>
          <p:cNvSpPr txBox="1"/>
          <p:nvPr/>
        </p:nvSpPr>
        <p:spPr>
          <a:xfrm>
            <a:off x="5095189" y="4892068"/>
            <a:ext cx="3121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OO’ </a:t>
            </a:r>
            <a:r>
              <a:rPr kumimoji="1" lang="en-US" altLang="zh-CN" dirty="0" err="1"/>
              <a:t>A’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/>
              <a:t> = </a:t>
            </a:r>
            <a:r>
              <a:rPr kumimoji="1" lang="el-GR" altLang="zh-CN" dirty="0"/>
              <a:t>π </a:t>
            </a:r>
            <a:r>
              <a:rPr kumimoji="1" lang="en-US" altLang="zh-CN" dirty="0"/>
              <a:t>+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AOO’ + </a:t>
            </a:r>
            <a:r>
              <a:rPr kumimoji="1" lang="zh-CN" altLang="en-US" dirty="0"/>
              <a:t>∠</a:t>
            </a:r>
            <a:r>
              <a:rPr kumimoji="1" lang="en-US" altLang="zh-CN" dirty="0" err="1"/>
              <a:t>AOA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033EC474-8CA5-AA35-6834-43132FC7AF6E}"/>
              </a:ext>
            </a:extLst>
          </p:cNvPr>
          <p:cNvSpPr txBox="1"/>
          <p:nvPr/>
        </p:nvSpPr>
        <p:spPr>
          <a:xfrm>
            <a:off x="5095188" y="4596222"/>
            <a:ext cx="2675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 err="1"/>
              <a:t>A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 err="1"/>
              <a:t>OO</a:t>
            </a:r>
            <a:r>
              <a:rPr kumimoji="1" lang="en-US" altLang="zh-CN" dirty="0"/>
              <a:t>’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AOO’ + </a:t>
            </a:r>
            <a:r>
              <a:rPr kumimoji="1" lang="zh-CN" altLang="en-US" dirty="0"/>
              <a:t>∠</a:t>
            </a:r>
            <a:r>
              <a:rPr kumimoji="1" lang="en-US" altLang="zh-CN" dirty="0" err="1"/>
              <a:t>AOA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F483550C-139C-1220-F5E7-18742720602F}"/>
              </a:ext>
            </a:extLst>
          </p:cNvPr>
          <p:cNvSpPr txBox="1"/>
          <p:nvPr/>
        </p:nvSpPr>
        <p:spPr>
          <a:xfrm>
            <a:off x="4710782" y="5297162"/>
            <a:ext cx="2554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If </a:t>
            </a:r>
            <a:r>
              <a:rPr kumimoji="1" lang="en-US" altLang="zh-CN" dirty="0" err="1"/>
              <a:t>closewise</a:t>
            </a:r>
            <a:r>
              <a:rPr kumimoji="1" lang="en-US" altLang="zh-CN" dirty="0"/>
              <a:t> and small arc</a:t>
            </a:r>
            <a:endParaRPr kumimoji="1" lang="zh-CN" altLang="en-US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3A67D60-4055-4437-A4ED-D4A9C1C497AE}"/>
              </a:ext>
            </a:extLst>
          </p:cNvPr>
          <p:cNvSpPr txBox="1"/>
          <p:nvPr/>
        </p:nvSpPr>
        <p:spPr>
          <a:xfrm>
            <a:off x="5210029" y="5593008"/>
            <a:ext cx="2125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from_arc</a:t>
            </a:r>
            <a:r>
              <a:rPr kumimoji="1" lang="en-US" altLang="zh-CN" dirty="0"/>
              <a:t>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OO’ </a:t>
            </a:r>
            <a:r>
              <a:rPr kumimoji="1" lang="en-US" altLang="zh-CN" dirty="0" err="1"/>
              <a:t>A’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1829041F-B072-CA38-C9FD-D80938CDA9DA}"/>
              </a:ext>
            </a:extLst>
          </p:cNvPr>
          <p:cNvSpPr txBox="1"/>
          <p:nvPr/>
        </p:nvSpPr>
        <p:spPr>
          <a:xfrm>
            <a:off x="5200919" y="5928994"/>
            <a:ext cx="2664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to_arc</a:t>
            </a:r>
            <a:r>
              <a:rPr kumimoji="1" lang="en-US" altLang="zh-CN" dirty="0"/>
              <a:t>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OO’ </a:t>
            </a:r>
            <a:r>
              <a:rPr kumimoji="1" lang="en-US" altLang="zh-CN" dirty="0" err="1"/>
              <a:t>A’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/>
              <a:t> -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OO’A </a:t>
            </a:r>
            <a:endParaRPr kumimoji="1" lang="zh-CN" altLang="en-US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1DD6BF66-E26D-1878-4361-BB292DE459A2}"/>
              </a:ext>
            </a:extLst>
          </p:cNvPr>
          <p:cNvSpPr txBox="1"/>
          <p:nvPr/>
        </p:nvSpPr>
        <p:spPr>
          <a:xfrm>
            <a:off x="8450331" y="5297162"/>
            <a:ext cx="2957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If anti-</a:t>
            </a:r>
            <a:r>
              <a:rPr kumimoji="1" lang="en-US" altLang="zh-CN" dirty="0" err="1"/>
              <a:t>closewise</a:t>
            </a:r>
            <a:r>
              <a:rPr kumimoji="1" lang="en-US" altLang="zh-CN" dirty="0"/>
              <a:t> and large arc</a:t>
            </a:r>
            <a:endParaRPr kumimoji="1" lang="zh-CN" altLang="en-US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E78E2DF3-865E-2BCC-E567-89FD805BC0A4}"/>
              </a:ext>
            </a:extLst>
          </p:cNvPr>
          <p:cNvSpPr txBox="1"/>
          <p:nvPr/>
        </p:nvSpPr>
        <p:spPr>
          <a:xfrm>
            <a:off x="8949578" y="5593008"/>
            <a:ext cx="2293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from_arc</a:t>
            </a:r>
            <a:r>
              <a:rPr kumimoji="1" lang="en-US" altLang="zh-CN" dirty="0"/>
              <a:t> =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OO’ </a:t>
            </a:r>
            <a:r>
              <a:rPr kumimoji="1" lang="en-US" altLang="zh-CN" dirty="0" err="1"/>
              <a:t>A’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668B6DC5-5540-C23B-D925-3F3F43B75CFD}"/>
              </a:ext>
            </a:extLst>
          </p:cNvPr>
          <p:cNvSpPr txBox="1"/>
          <p:nvPr/>
        </p:nvSpPr>
        <p:spPr>
          <a:xfrm>
            <a:off x="8940468" y="5928994"/>
            <a:ext cx="3271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to_arc</a:t>
            </a:r>
            <a:r>
              <a:rPr kumimoji="1" lang="en-US" altLang="zh-CN" dirty="0"/>
              <a:t>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OO’ </a:t>
            </a:r>
            <a:r>
              <a:rPr kumimoji="1" lang="en-US" altLang="zh-CN" dirty="0" err="1"/>
              <a:t>A’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/>
              <a:t> + (2</a:t>
            </a:r>
            <a:r>
              <a:rPr kumimoji="1" lang="el-GR" altLang="zh-CN" dirty="0"/>
              <a:t>π</a:t>
            </a:r>
            <a:r>
              <a:rPr kumimoji="1" lang="en-US" altLang="zh-CN" dirty="0"/>
              <a:t> -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OO’A) </a:t>
            </a:r>
            <a:endParaRPr kumimoji="1" lang="zh-CN" altLang="en-US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206FC208-6F78-BE4F-A2CE-9CCA847C3089}"/>
              </a:ext>
            </a:extLst>
          </p:cNvPr>
          <p:cNvSpPr txBox="1"/>
          <p:nvPr/>
        </p:nvSpPr>
        <p:spPr>
          <a:xfrm>
            <a:off x="4952493" y="165358"/>
            <a:ext cx="3641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OO’’A = </a:t>
            </a:r>
            <a:r>
              <a:rPr kumimoji="1" lang="en-US" altLang="zh-CN" dirty="0" err="1"/>
              <a:t>arcsin</a:t>
            </a:r>
            <a:r>
              <a:rPr kumimoji="1" lang="en-US" altLang="zh-CN" dirty="0"/>
              <a:t>(|OA/2| / |OO’’|) * 2</a:t>
            </a:r>
            <a:endParaRPr kumimoji="1" lang="zh-CN" altLang="en-US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C56F2FAD-270D-FE20-5A40-B8687A14467F}"/>
              </a:ext>
            </a:extLst>
          </p:cNvPr>
          <p:cNvSpPr txBox="1"/>
          <p:nvPr/>
        </p:nvSpPr>
        <p:spPr>
          <a:xfrm>
            <a:off x="4953130" y="819719"/>
            <a:ext cx="2367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 err="1"/>
              <a:t>A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 err="1"/>
              <a:t>OA</a:t>
            </a:r>
            <a:r>
              <a:rPr kumimoji="1" lang="en-US" altLang="zh-CN" dirty="0"/>
              <a:t> = arctan(A</a:t>
            </a:r>
            <a:r>
              <a:rPr kumimoji="1" lang="en-US" altLang="zh-CN" baseline="-25000" dirty="0"/>
              <a:t>y</a:t>
            </a:r>
            <a:r>
              <a:rPr kumimoji="1" lang="en-US" altLang="zh-CN" dirty="0"/>
              <a:t> / A</a:t>
            </a:r>
            <a:r>
              <a:rPr kumimoji="1" lang="en-US" altLang="zh-CN" baseline="-25000" dirty="0"/>
              <a:t>x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60C6E69E-81BB-E7A0-25A4-E433A716918E}"/>
              </a:ext>
            </a:extLst>
          </p:cNvPr>
          <p:cNvSpPr txBox="1"/>
          <p:nvPr/>
        </p:nvSpPr>
        <p:spPr>
          <a:xfrm>
            <a:off x="4948184" y="492539"/>
            <a:ext cx="3426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AOO’’ = </a:t>
            </a:r>
            <a:r>
              <a:rPr kumimoji="1" lang="en-US" altLang="zh-CN" dirty="0" err="1"/>
              <a:t>arccos</a:t>
            </a:r>
            <a:r>
              <a:rPr kumimoji="1" lang="en-US" altLang="zh-CN" dirty="0"/>
              <a:t>(|OA/2| / |OO’’|) </a:t>
            </a:r>
            <a:endParaRPr kumimoji="1" lang="zh-CN" altLang="en-US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7F598768-B511-990B-005D-B8E640647B9E}"/>
              </a:ext>
            </a:extLst>
          </p:cNvPr>
          <p:cNvSpPr txBox="1"/>
          <p:nvPr/>
        </p:nvSpPr>
        <p:spPr>
          <a:xfrm>
            <a:off x="4928206" y="1464175"/>
            <a:ext cx="3291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OO’’ </a:t>
            </a:r>
            <a:r>
              <a:rPr kumimoji="1" lang="en-US" altLang="zh-CN" dirty="0" err="1"/>
              <a:t>A’’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/>
              <a:t> = </a:t>
            </a:r>
            <a:r>
              <a:rPr kumimoji="1" lang="el-GR" altLang="zh-CN" dirty="0"/>
              <a:t>π</a:t>
            </a:r>
            <a:r>
              <a:rPr kumimoji="1" lang="en-US" altLang="zh-CN" dirty="0"/>
              <a:t> +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AOO’’ + </a:t>
            </a:r>
            <a:r>
              <a:rPr kumimoji="1" lang="zh-CN" altLang="en-US" dirty="0"/>
              <a:t>∠</a:t>
            </a:r>
            <a:r>
              <a:rPr kumimoji="1" lang="en-US" altLang="zh-CN" dirty="0" err="1"/>
              <a:t>A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 err="1"/>
              <a:t>OA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9399019E-33D3-3806-731E-089F20AFA639}"/>
              </a:ext>
            </a:extLst>
          </p:cNvPr>
          <p:cNvSpPr txBox="1"/>
          <p:nvPr/>
        </p:nvSpPr>
        <p:spPr>
          <a:xfrm>
            <a:off x="4928205" y="1168329"/>
            <a:ext cx="297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OO’’ </a:t>
            </a:r>
            <a:r>
              <a:rPr kumimoji="1" lang="en-US" altLang="zh-CN" dirty="0" err="1"/>
              <a:t>O’’</a:t>
            </a:r>
            <a:r>
              <a:rPr kumimoji="1" lang="en-US" altLang="zh-CN" baseline="-25000" dirty="0" err="1"/>
              <a:t>y</a:t>
            </a:r>
            <a:r>
              <a:rPr kumimoji="1" lang="en-US" altLang="zh-CN" dirty="0"/>
              <a:t>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AOO’’ + </a:t>
            </a:r>
            <a:r>
              <a:rPr kumimoji="1" lang="zh-CN" altLang="en-US" dirty="0"/>
              <a:t>∠</a:t>
            </a:r>
            <a:r>
              <a:rPr kumimoji="1" lang="en-US" altLang="zh-CN" dirty="0" err="1"/>
              <a:t>A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 err="1"/>
              <a:t>OA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28ED9A9-E1EF-98BE-4C2C-5ECA5A7F6C58}"/>
              </a:ext>
            </a:extLst>
          </p:cNvPr>
          <p:cNvSpPr txBox="1"/>
          <p:nvPr/>
        </p:nvSpPr>
        <p:spPr>
          <a:xfrm>
            <a:off x="4928205" y="1948350"/>
            <a:ext cx="2526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If </a:t>
            </a:r>
            <a:r>
              <a:rPr kumimoji="1" lang="en-US" altLang="zh-CN" dirty="0" err="1"/>
              <a:t>closewise</a:t>
            </a:r>
            <a:r>
              <a:rPr kumimoji="1" lang="en-US" altLang="zh-CN" dirty="0"/>
              <a:t> and large arc</a:t>
            </a:r>
            <a:endParaRPr kumimoji="1" lang="zh-CN" altLang="en-US" dirty="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0D5C9BD6-6070-98F3-2172-9CF8C19050EF}"/>
              </a:ext>
            </a:extLst>
          </p:cNvPr>
          <p:cNvSpPr txBox="1"/>
          <p:nvPr/>
        </p:nvSpPr>
        <p:spPr>
          <a:xfrm>
            <a:off x="5427452" y="2244196"/>
            <a:ext cx="2240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from_arc</a:t>
            </a:r>
            <a:r>
              <a:rPr kumimoji="1" lang="en-US" altLang="zh-CN" dirty="0"/>
              <a:t>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OO’’ </a:t>
            </a:r>
            <a:r>
              <a:rPr kumimoji="1" lang="en-US" altLang="zh-CN" dirty="0" err="1"/>
              <a:t>A’’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43BC8704-AFAB-838D-7D21-89E930A852FE}"/>
              </a:ext>
            </a:extLst>
          </p:cNvPr>
          <p:cNvSpPr txBox="1"/>
          <p:nvPr/>
        </p:nvSpPr>
        <p:spPr>
          <a:xfrm>
            <a:off x="5418342" y="2580182"/>
            <a:ext cx="3444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to_arc</a:t>
            </a:r>
            <a:r>
              <a:rPr kumimoji="1" lang="en-US" altLang="zh-CN" dirty="0"/>
              <a:t>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OO’’ </a:t>
            </a:r>
            <a:r>
              <a:rPr kumimoji="1" lang="en-US" altLang="zh-CN" dirty="0" err="1"/>
              <a:t>A’’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/>
              <a:t> – (2</a:t>
            </a:r>
            <a:r>
              <a:rPr kumimoji="1" lang="el-GR" altLang="zh-CN" dirty="0"/>
              <a:t>π </a:t>
            </a:r>
            <a:r>
              <a:rPr kumimoji="1" lang="en-US" altLang="zh-CN" dirty="0"/>
              <a:t>-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OO’’A) </a:t>
            </a:r>
            <a:endParaRPr kumimoji="1" lang="zh-CN" altLang="en-US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85EF224-4ECE-6B08-DB8F-6FC117493E30}"/>
              </a:ext>
            </a:extLst>
          </p:cNvPr>
          <p:cNvSpPr txBox="1"/>
          <p:nvPr/>
        </p:nvSpPr>
        <p:spPr>
          <a:xfrm>
            <a:off x="8667754" y="1948350"/>
            <a:ext cx="2984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If anti-</a:t>
            </a:r>
            <a:r>
              <a:rPr kumimoji="1" lang="en-US" altLang="zh-CN" dirty="0" err="1"/>
              <a:t>closewise</a:t>
            </a:r>
            <a:r>
              <a:rPr kumimoji="1" lang="en-US" altLang="zh-CN" dirty="0"/>
              <a:t> and small arc</a:t>
            </a:r>
            <a:endParaRPr kumimoji="1" lang="zh-CN" altLang="en-US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8043F9EF-0517-6CB9-A6ED-51163BD008EE}"/>
              </a:ext>
            </a:extLst>
          </p:cNvPr>
          <p:cNvSpPr txBox="1"/>
          <p:nvPr/>
        </p:nvSpPr>
        <p:spPr>
          <a:xfrm>
            <a:off x="9167001" y="2244196"/>
            <a:ext cx="2240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from_arc</a:t>
            </a:r>
            <a:r>
              <a:rPr kumimoji="1" lang="en-US" altLang="zh-CN" dirty="0"/>
              <a:t>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OO’’ </a:t>
            </a:r>
            <a:r>
              <a:rPr kumimoji="1" lang="en-US" altLang="zh-CN" dirty="0" err="1"/>
              <a:t>A’’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F3E90511-B54C-FFAC-3317-8329805724F6}"/>
              </a:ext>
            </a:extLst>
          </p:cNvPr>
          <p:cNvSpPr txBox="1"/>
          <p:nvPr/>
        </p:nvSpPr>
        <p:spPr>
          <a:xfrm>
            <a:off x="9157891" y="2580182"/>
            <a:ext cx="2996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to_arc</a:t>
            </a:r>
            <a:r>
              <a:rPr kumimoji="1" lang="en-US" altLang="zh-CN" dirty="0"/>
              <a:t>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OO’’ </a:t>
            </a:r>
            <a:r>
              <a:rPr kumimoji="1" lang="en-US" altLang="zh-CN" dirty="0" err="1"/>
              <a:t>A’’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/>
              <a:t> +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OO’’A 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24AEF3E-16D6-7BDD-F5A1-7AD33DC312B7}"/>
              </a:ext>
            </a:extLst>
          </p:cNvPr>
          <p:cNvSpPr txBox="1"/>
          <p:nvPr/>
        </p:nvSpPr>
        <p:spPr>
          <a:xfrm>
            <a:off x="5473384" y="2993637"/>
            <a:ext cx="3059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O‘’</a:t>
            </a:r>
            <a:r>
              <a:rPr kumimoji="1" lang="en-US" altLang="zh-CN" baseline="-25000" dirty="0" err="1"/>
              <a:t>x</a:t>
            </a:r>
            <a:r>
              <a:rPr kumimoji="1" lang="en-US" altLang="zh-CN" baseline="-25000" dirty="0"/>
              <a:t> </a:t>
            </a:r>
            <a:r>
              <a:rPr kumimoji="1" lang="en-US" altLang="zh-CN" dirty="0"/>
              <a:t>= |OO’’| * cos(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OO’’ </a:t>
            </a:r>
            <a:r>
              <a:rPr kumimoji="1" lang="en-US" altLang="zh-CN" dirty="0" err="1"/>
              <a:t>O’’</a:t>
            </a:r>
            <a:r>
              <a:rPr kumimoji="1" lang="en-US" altLang="zh-CN" baseline="-25000" dirty="0" err="1"/>
              <a:t>y</a:t>
            </a:r>
            <a:r>
              <a:rPr kumimoji="1" lang="en-US" altLang="zh-CN" dirty="0"/>
              <a:t> )</a:t>
            </a:r>
            <a:r>
              <a:rPr kumimoji="1" lang="en-US" altLang="zh-CN" baseline="-25000" dirty="0"/>
              <a:t> 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FF70B08-3862-B0CF-E191-C83D15901075}"/>
              </a:ext>
            </a:extLst>
          </p:cNvPr>
          <p:cNvSpPr txBox="1"/>
          <p:nvPr/>
        </p:nvSpPr>
        <p:spPr>
          <a:xfrm>
            <a:off x="8627615" y="2979798"/>
            <a:ext cx="3019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O‘’</a:t>
            </a:r>
            <a:r>
              <a:rPr kumimoji="1" lang="en-US" altLang="zh-CN" baseline="-25000" dirty="0" err="1"/>
              <a:t>y</a:t>
            </a:r>
            <a:r>
              <a:rPr kumimoji="1" lang="en-US" altLang="zh-CN" baseline="-25000" dirty="0"/>
              <a:t> </a:t>
            </a:r>
            <a:r>
              <a:rPr kumimoji="1" lang="en-US" altLang="zh-CN" dirty="0"/>
              <a:t>= |OO’’| * sin(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OO’’ </a:t>
            </a:r>
            <a:r>
              <a:rPr kumimoji="1" lang="en-US" altLang="zh-CN" dirty="0" err="1"/>
              <a:t>O’’</a:t>
            </a:r>
            <a:r>
              <a:rPr kumimoji="1" lang="en-US" altLang="zh-CN" baseline="-25000" dirty="0" err="1"/>
              <a:t>y</a:t>
            </a:r>
            <a:r>
              <a:rPr kumimoji="1" lang="en-US" altLang="zh-CN" dirty="0"/>
              <a:t> )</a:t>
            </a:r>
            <a:r>
              <a:rPr kumimoji="1" lang="en-US" altLang="zh-CN" baseline="-25000" dirty="0"/>
              <a:t> 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196BB80-A1A1-CB10-EE0C-2CC85E9625D8}"/>
              </a:ext>
            </a:extLst>
          </p:cNvPr>
          <p:cNvSpPr txBox="1"/>
          <p:nvPr/>
        </p:nvSpPr>
        <p:spPr>
          <a:xfrm>
            <a:off x="5189861" y="6345618"/>
            <a:ext cx="2801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O‘</a:t>
            </a:r>
            <a:r>
              <a:rPr kumimoji="1" lang="en-US" altLang="zh-CN" baseline="-25000" dirty="0" err="1"/>
              <a:t>x</a:t>
            </a:r>
            <a:r>
              <a:rPr kumimoji="1" lang="en-US" altLang="zh-CN" baseline="-25000" dirty="0"/>
              <a:t> </a:t>
            </a:r>
            <a:r>
              <a:rPr kumimoji="1" lang="en-US" altLang="zh-CN" dirty="0"/>
              <a:t>= |OO’| * cos(</a:t>
            </a:r>
            <a:r>
              <a:rPr kumimoji="1" lang="zh-CN" altLang="en-US" dirty="0"/>
              <a:t>∠</a:t>
            </a:r>
            <a:r>
              <a:rPr kumimoji="1" lang="en-US" altLang="zh-CN" dirty="0" err="1"/>
              <a:t>A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 err="1"/>
              <a:t>OO</a:t>
            </a:r>
            <a:r>
              <a:rPr kumimoji="1" lang="en-US" altLang="zh-CN" dirty="0"/>
              <a:t>’ )</a:t>
            </a:r>
            <a:r>
              <a:rPr kumimoji="1" lang="en-US" altLang="zh-CN" baseline="-25000" dirty="0"/>
              <a:t> </a:t>
            </a:r>
            <a:endParaRPr kumimoji="1"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FBF45AE-0A99-1865-AA1C-4FFAB6E67EC0}"/>
              </a:ext>
            </a:extLst>
          </p:cNvPr>
          <p:cNvSpPr txBox="1"/>
          <p:nvPr/>
        </p:nvSpPr>
        <p:spPr>
          <a:xfrm>
            <a:off x="8344092" y="6331779"/>
            <a:ext cx="2883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O‘’</a:t>
            </a:r>
            <a:r>
              <a:rPr kumimoji="1" lang="en-US" altLang="zh-CN" baseline="-25000" dirty="0" err="1"/>
              <a:t>y</a:t>
            </a:r>
            <a:r>
              <a:rPr kumimoji="1" lang="en-US" altLang="zh-CN" baseline="-25000" dirty="0"/>
              <a:t> </a:t>
            </a:r>
            <a:r>
              <a:rPr kumimoji="1" lang="en-US" altLang="zh-CN" dirty="0"/>
              <a:t>= -|OO’| * sin(</a:t>
            </a:r>
            <a:r>
              <a:rPr kumimoji="1" lang="zh-CN" altLang="en-US" dirty="0"/>
              <a:t>∠</a:t>
            </a:r>
            <a:r>
              <a:rPr kumimoji="1" lang="en-US" altLang="zh-CN" dirty="0" err="1"/>
              <a:t>A</a:t>
            </a:r>
            <a:r>
              <a:rPr kumimoji="1" lang="en-US" altLang="zh-CN" baseline="-25000" dirty="0" err="1"/>
              <a:t>x</a:t>
            </a:r>
            <a:r>
              <a:rPr kumimoji="1" lang="en-US" altLang="zh-CN" dirty="0" err="1"/>
              <a:t>OO</a:t>
            </a:r>
            <a:r>
              <a:rPr kumimoji="1" lang="en-US" altLang="zh-CN" dirty="0"/>
              <a:t>’ )</a:t>
            </a:r>
            <a:r>
              <a:rPr kumimoji="1" lang="en-US" altLang="zh-CN" baseline="-25000" dirty="0"/>
              <a:t> </a:t>
            </a:r>
            <a:endParaRPr kumimoji="1"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9C5F174-6D33-6280-6AE8-C70F0D99D693}"/>
              </a:ext>
            </a:extLst>
          </p:cNvPr>
          <p:cNvSpPr txBox="1"/>
          <p:nvPr/>
        </p:nvSpPr>
        <p:spPr>
          <a:xfrm>
            <a:off x="9386851" y="130859"/>
            <a:ext cx="2708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u="sng" dirty="0"/>
              <a:t>arc sweep angle</a:t>
            </a:r>
            <a:endParaRPr lang="zh-CN" altLang="en-US" u="sng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D889FAA-4935-6A76-9051-5B0F7328DC42}"/>
              </a:ext>
            </a:extLst>
          </p:cNvPr>
          <p:cNvSpPr txBox="1"/>
          <p:nvPr/>
        </p:nvSpPr>
        <p:spPr>
          <a:xfrm>
            <a:off x="9386851" y="436138"/>
            <a:ext cx="2708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u="sng" dirty="0"/>
              <a:t>positive angle</a:t>
            </a:r>
            <a:endParaRPr lang="zh-CN" altLang="en-US" u="sng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EB12C44-B489-6934-9778-2D63B78F3795}"/>
              </a:ext>
            </a:extLst>
          </p:cNvPr>
          <p:cNvSpPr txBox="1"/>
          <p:nvPr/>
        </p:nvSpPr>
        <p:spPr>
          <a:xfrm>
            <a:off x="9386851" y="741417"/>
            <a:ext cx="2708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u="sng" dirty="0"/>
              <a:t>positive angle</a:t>
            </a:r>
            <a:endParaRPr lang="zh-CN" altLang="en-US" u="sng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3C8025F-48EB-969B-4EFA-721EA3F17FC9}"/>
              </a:ext>
            </a:extLst>
          </p:cNvPr>
          <p:cNvSpPr txBox="1"/>
          <p:nvPr/>
        </p:nvSpPr>
        <p:spPr>
          <a:xfrm>
            <a:off x="9382111" y="1109145"/>
            <a:ext cx="2708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u="sng" dirty="0"/>
              <a:t>positive angle</a:t>
            </a:r>
            <a:endParaRPr lang="zh-CN" altLang="en-US" u="sng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8DEA8F6-4D2C-E11A-B0FF-BCA2F8655306}"/>
              </a:ext>
            </a:extLst>
          </p:cNvPr>
          <p:cNvSpPr txBox="1"/>
          <p:nvPr/>
        </p:nvSpPr>
        <p:spPr>
          <a:xfrm>
            <a:off x="9339896" y="3631601"/>
            <a:ext cx="2708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u="sng" dirty="0"/>
              <a:t>arc sweep angle</a:t>
            </a:r>
            <a:endParaRPr lang="zh-CN" altLang="en-US" u="sng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08FC8C2-B84D-358D-5BEE-0CAD41CA1809}"/>
              </a:ext>
            </a:extLst>
          </p:cNvPr>
          <p:cNvSpPr txBox="1"/>
          <p:nvPr/>
        </p:nvSpPr>
        <p:spPr>
          <a:xfrm>
            <a:off x="9339896" y="3936880"/>
            <a:ext cx="2708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u="sng" dirty="0">
                <a:solidFill>
                  <a:srgbClr val="FF0000"/>
                </a:solidFill>
              </a:rPr>
              <a:t>negative angle</a:t>
            </a:r>
            <a:endParaRPr lang="zh-CN" altLang="en-US" u="sng" dirty="0">
              <a:solidFill>
                <a:srgbClr val="FF0000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813DB1A-50B6-2AD1-47E8-45237ABE2ABA}"/>
              </a:ext>
            </a:extLst>
          </p:cNvPr>
          <p:cNvSpPr txBox="1"/>
          <p:nvPr/>
        </p:nvSpPr>
        <p:spPr>
          <a:xfrm>
            <a:off x="9339896" y="4242159"/>
            <a:ext cx="2708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u="sng" dirty="0"/>
              <a:t>positive angle</a:t>
            </a:r>
            <a:endParaRPr lang="zh-CN" altLang="en-US" u="sng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E42EE44-0BBA-E167-DEEC-61AEC50AA6DF}"/>
              </a:ext>
            </a:extLst>
          </p:cNvPr>
          <p:cNvSpPr txBox="1"/>
          <p:nvPr/>
        </p:nvSpPr>
        <p:spPr>
          <a:xfrm>
            <a:off x="9335156" y="4609887"/>
            <a:ext cx="2708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u="sng" dirty="0">
                <a:solidFill>
                  <a:srgbClr val="FF0000"/>
                </a:solidFill>
              </a:rPr>
              <a:t>negative angle</a:t>
            </a:r>
            <a:endParaRPr lang="zh-CN" altLang="en-US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2817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BB56E-A033-05B9-6B51-945A0D4B2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448225A-F73D-05D8-DFF9-962E5E6BB972}"/>
              </a:ext>
            </a:extLst>
          </p:cNvPr>
          <p:cNvSpPr/>
          <p:nvPr/>
        </p:nvSpPr>
        <p:spPr>
          <a:xfrm>
            <a:off x="1003905" y="1465943"/>
            <a:ext cx="3600000" cy="360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15132A7-2D1B-8E22-CC28-FE5FD6DA955C}"/>
              </a:ext>
            </a:extLst>
          </p:cNvPr>
          <p:cNvSpPr/>
          <p:nvPr/>
        </p:nvSpPr>
        <p:spPr>
          <a:xfrm>
            <a:off x="1003905" y="1964266"/>
            <a:ext cx="3600000" cy="278478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BF424937-451E-4D22-F095-53534F7C6900}"/>
              </a:ext>
            </a:extLst>
          </p:cNvPr>
          <p:cNvCxnSpPr/>
          <p:nvPr/>
        </p:nvCxnSpPr>
        <p:spPr>
          <a:xfrm>
            <a:off x="411239" y="3265943"/>
            <a:ext cx="4736495" cy="21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AF30BFEA-9BAA-45BE-698F-7EF7178DD35D}"/>
              </a:ext>
            </a:extLst>
          </p:cNvPr>
          <p:cNvCxnSpPr/>
          <p:nvPr/>
        </p:nvCxnSpPr>
        <p:spPr>
          <a:xfrm>
            <a:off x="1727428" y="1798676"/>
            <a:ext cx="2590571" cy="4217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C8A2C6E5-1334-BC4E-22EB-6048052A0419}"/>
              </a:ext>
            </a:extLst>
          </p:cNvPr>
          <p:cNvCxnSpPr>
            <a:stCxn id="2" idx="0"/>
            <a:endCxn id="2" idx="4"/>
          </p:cNvCxnSpPr>
          <p:nvPr/>
        </p:nvCxnSpPr>
        <p:spPr>
          <a:xfrm>
            <a:off x="2803905" y="870143"/>
            <a:ext cx="0" cy="4791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30FEE157-8E66-83FC-3DA9-DA4AFB3678ED}"/>
              </a:ext>
            </a:extLst>
          </p:cNvPr>
          <p:cNvCxnSpPr/>
          <p:nvPr/>
        </p:nvCxnSpPr>
        <p:spPr>
          <a:xfrm>
            <a:off x="1727428" y="1798676"/>
            <a:ext cx="0" cy="2950371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2CE14119-F25B-4888-D279-0D166C0CACE8}"/>
              </a:ext>
            </a:extLst>
          </p:cNvPr>
          <p:cNvCxnSpPr/>
          <p:nvPr/>
        </p:nvCxnSpPr>
        <p:spPr>
          <a:xfrm>
            <a:off x="4317999" y="2210302"/>
            <a:ext cx="0" cy="2073831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ECFDF89C-4273-85E6-5B4B-F7216165521D}"/>
              </a:ext>
            </a:extLst>
          </p:cNvPr>
          <p:cNvCxnSpPr/>
          <p:nvPr/>
        </p:nvCxnSpPr>
        <p:spPr>
          <a:xfrm>
            <a:off x="1727428" y="2220411"/>
            <a:ext cx="2590571" cy="3118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99EDA993-3BB6-CDD4-2D60-3923E4694290}"/>
              </a:ext>
            </a:extLst>
          </p:cNvPr>
          <p:cNvCxnSpPr/>
          <p:nvPr/>
        </p:nvCxnSpPr>
        <p:spPr>
          <a:xfrm>
            <a:off x="1727428" y="2220411"/>
            <a:ext cx="1076477" cy="1045532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76225C6C-3B12-56FA-9270-B21FD97C3689}"/>
              </a:ext>
            </a:extLst>
          </p:cNvPr>
          <p:cNvCxnSpPr/>
          <p:nvPr/>
        </p:nvCxnSpPr>
        <p:spPr>
          <a:xfrm>
            <a:off x="1727428" y="1798676"/>
            <a:ext cx="1076477" cy="1467267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2F10626F-988E-8900-FB93-97AE036982FC}"/>
              </a:ext>
            </a:extLst>
          </p:cNvPr>
          <p:cNvCxnSpPr/>
          <p:nvPr/>
        </p:nvCxnSpPr>
        <p:spPr>
          <a:xfrm flipV="1">
            <a:off x="2803905" y="2220411"/>
            <a:ext cx="1514094" cy="105345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349230FB-6ACC-0DD2-8BA3-81D2123357B8}"/>
              </a:ext>
            </a:extLst>
          </p:cNvPr>
          <p:cNvCxnSpPr/>
          <p:nvPr/>
        </p:nvCxnSpPr>
        <p:spPr>
          <a:xfrm flipV="1">
            <a:off x="2803905" y="2553144"/>
            <a:ext cx="1514094" cy="712799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连接符 28">
            <a:extLst>
              <a:ext uri="{FF2B5EF4-FFF2-40B4-BE49-F238E27FC236}">
                <a16:creationId xmlns:a16="http://schemas.microsoft.com/office/drawing/2014/main" id="{EE2447D5-FB74-5949-8394-0EA57C138792}"/>
              </a:ext>
            </a:extLst>
          </p:cNvPr>
          <p:cNvCxnSpPr/>
          <p:nvPr/>
        </p:nvCxnSpPr>
        <p:spPr>
          <a:xfrm flipV="1">
            <a:off x="1727428" y="3273861"/>
            <a:ext cx="1076477" cy="1213472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4D277CC1-AB01-41FB-6E55-126F2B74B470}"/>
              </a:ext>
            </a:extLst>
          </p:cNvPr>
          <p:cNvCxnSpPr/>
          <p:nvPr/>
        </p:nvCxnSpPr>
        <p:spPr>
          <a:xfrm flipV="1">
            <a:off x="1727428" y="3273861"/>
            <a:ext cx="1076477" cy="1475186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276AC440-6763-F176-CF5C-6B8AA4AF4A69}"/>
              </a:ext>
            </a:extLst>
          </p:cNvPr>
          <p:cNvCxnSpPr/>
          <p:nvPr/>
        </p:nvCxnSpPr>
        <p:spPr>
          <a:xfrm>
            <a:off x="2803905" y="3265943"/>
            <a:ext cx="1514094" cy="88272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EFB408C8-6642-66AD-711C-3598FE1152C5}"/>
              </a:ext>
            </a:extLst>
          </p:cNvPr>
          <p:cNvCxnSpPr/>
          <p:nvPr/>
        </p:nvCxnSpPr>
        <p:spPr>
          <a:xfrm>
            <a:off x="2803905" y="3265943"/>
            <a:ext cx="1514094" cy="101819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23FF82F7-643B-B45E-4F58-C363BB0EC411}"/>
              </a:ext>
            </a:extLst>
          </p:cNvPr>
          <p:cNvSpPr txBox="1"/>
          <p:nvPr/>
        </p:nvSpPr>
        <p:spPr>
          <a:xfrm>
            <a:off x="1409711" y="150792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A</a:t>
            </a:r>
            <a:endParaRPr kumimoji="1"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36A748B-790B-42D2-AFAD-1F18A945B51C}"/>
              </a:ext>
            </a:extLst>
          </p:cNvPr>
          <p:cNvSpPr txBox="1"/>
          <p:nvPr/>
        </p:nvSpPr>
        <p:spPr>
          <a:xfrm>
            <a:off x="4406910" y="201592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BF2EEA9-F728-95C5-610D-7BC532F70B2F}"/>
              </a:ext>
            </a:extLst>
          </p:cNvPr>
          <p:cNvSpPr txBox="1"/>
          <p:nvPr/>
        </p:nvSpPr>
        <p:spPr>
          <a:xfrm>
            <a:off x="1426645" y="196512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</a:t>
            </a:r>
            <a:endParaRPr kumimoji="1"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72510B8-274D-A882-6F22-F6AA887A79DF}"/>
              </a:ext>
            </a:extLst>
          </p:cNvPr>
          <p:cNvSpPr txBox="1"/>
          <p:nvPr/>
        </p:nvSpPr>
        <p:spPr>
          <a:xfrm>
            <a:off x="4322246" y="2405389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D</a:t>
            </a:r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0718FEE-BA62-48BC-1BAC-0A476E4F2C34}"/>
              </a:ext>
            </a:extLst>
          </p:cNvPr>
          <p:cNvSpPr txBox="1"/>
          <p:nvPr/>
        </p:nvSpPr>
        <p:spPr>
          <a:xfrm>
            <a:off x="1409712" y="4776057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A’</a:t>
            </a:r>
            <a:endParaRPr kumimoji="1"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F6D7F97-C5CD-6307-6306-EF3E5A64EF96}"/>
              </a:ext>
            </a:extLst>
          </p:cNvPr>
          <p:cNvSpPr txBox="1"/>
          <p:nvPr/>
        </p:nvSpPr>
        <p:spPr>
          <a:xfrm>
            <a:off x="1409711" y="4234187"/>
            <a:ext cx="375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C’</a:t>
            </a:r>
            <a:endParaRPr kumimoji="1"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225E424-7955-6FC4-780F-55530328A745}"/>
              </a:ext>
            </a:extLst>
          </p:cNvPr>
          <p:cNvSpPr txBox="1"/>
          <p:nvPr/>
        </p:nvSpPr>
        <p:spPr>
          <a:xfrm>
            <a:off x="4339180" y="3946320"/>
            <a:ext cx="385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D’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0B70FB5-67C2-CA00-5277-2555CCE9222F}"/>
              </a:ext>
            </a:extLst>
          </p:cNvPr>
          <p:cNvSpPr txBox="1"/>
          <p:nvPr/>
        </p:nvSpPr>
        <p:spPr>
          <a:xfrm>
            <a:off x="4271443" y="4200326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B’</a:t>
            </a:r>
            <a:endParaRPr kumimoji="1"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6B4B518-B181-7997-5C11-AB6596F6F755}"/>
              </a:ext>
            </a:extLst>
          </p:cNvPr>
          <p:cNvSpPr txBox="1"/>
          <p:nvPr/>
        </p:nvSpPr>
        <p:spPr>
          <a:xfrm>
            <a:off x="2764377" y="3302859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O</a:t>
            </a:r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7994C73-576C-EEA1-E3C2-20C679121DC5}"/>
              </a:ext>
            </a:extLst>
          </p:cNvPr>
          <p:cNvSpPr txBox="1"/>
          <p:nvPr/>
        </p:nvSpPr>
        <p:spPr>
          <a:xfrm>
            <a:off x="3589867" y="3079526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RX</a:t>
            </a:r>
            <a:endParaRPr kumimoji="1"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800E823-32A8-3841-EB4A-542743316EE5}"/>
              </a:ext>
            </a:extLst>
          </p:cNvPr>
          <p:cNvSpPr txBox="1"/>
          <p:nvPr/>
        </p:nvSpPr>
        <p:spPr>
          <a:xfrm>
            <a:off x="2624668" y="246992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RY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5AD4824-4604-34F0-BE26-A68626839490}"/>
              </a:ext>
            </a:extLst>
          </p:cNvPr>
          <p:cNvSpPr txBox="1"/>
          <p:nvPr/>
        </p:nvSpPr>
        <p:spPr>
          <a:xfrm>
            <a:off x="5136061" y="3060196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X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3874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633790" y="2462590"/>
            <a:ext cx="3600000" cy="360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6" name="直线连接符 55"/>
          <p:cNvCxnSpPr/>
          <p:nvPr/>
        </p:nvCxnSpPr>
        <p:spPr>
          <a:xfrm>
            <a:off x="938588" y="2128990"/>
            <a:ext cx="50050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连接符 57"/>
          <p:cNvCxnSpPr/>
          <p:nvPr/>
        </p:nvCxnSpPr>
        <p:spPr>
          <a:xfrm>
            <a:off x="3432857" y="328990"/>
            <a:ext cx="0" cy="360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/>
          <p:cNvSpPr/>
          <p:nvPr/>
        </p:nvSpPr>
        <p:spPr>
          <a:xfrm>
            <a:off x="1632857" y="328990"/>
            <a:ext cx="3600000" cy="360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" name="直线连接符 4"/>
          <p:cNvCxnSpPr/>
          <p:nvPr/>
        </p:nvCxnSpPr>
        <p:spPr>
          <a:xfrm>
            <a:off x="1712914" y="2624666"/>
            <a:ext cx="2520876" cy="11345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>
            <a:off x="2347391" y="4175597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1619967" y="2516134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4075296" y="3667599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8" name="直线连接符 17"/>
          <p:cNvCxnSpPr>
            <a:stCxn id="15" idx="4"/>
            <a:endCxn id="14" idx="1"/>
          </p:cNvCxnSpPr>
          <p:nvPr/>
        </p:nvCxnSpPr>
        <p:spPr>
          <a:xfrm>
            <a:off x="1709967" y="2696134"/>
            <a:ext cx="663784" cy="1505823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/>
          <p:cNvCxnSpPr>
            <a:stCxn id="14" idx="6"/>
            <a:endCxn id="16" idx="3"/>
          </p:cNvCxnSpPr>
          <p:nvPr/>
        </p:nvCxnSpPr>
        <p:spPr>
          <a:xfrm flipV="1">
            <a:off x="2527391" y="3821239"/>
            <a:ext cx="1574265" cy="444358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/>
          <p:cNvCxnSpPr/>
          <p:nvPr/>
        </p:nvCxnSpPr>
        <p:spPr>
          <a:xfrm flipV="1">
            <a:off x="2386591" y="2144838"/>
            <a:ext cx="1037026" cy="21831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/>
          <p:cNvSpPr/>
          <p:nvPr/>
        </p:nvSpPr>
        <p:spPr>
          <a:xfrm>
            <a:off x="3350550" y="2041314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5" name="直线连接符 34"/>
          <p:cNvCxnSpPr>
            <a:stCxn id="15" idx="7"/>
            <a:endCxn id="33" idx="2"/>
          </p:cNvCxnSpPr>
          <p:nvPr/>
        </p:nvCxnSpPr>
        <p:spPr>
          <a:xfrm flipV="1">
            <a:off x="1773607" y="2131314"/>
            <a:ext cx="1576943" cy="41118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连接符 39"/>
          <p:cNvCxnSpPr>
            <a:stCxn id="33" idx="6"/>
          </p:cNvCxnSpPr>
          <p:nvPr/>
        </p:nvCxnSpPr>
        <p:spPr>
          <a:xfrm>
            <a:off x="3530550" y="2131314"/>
            <a:ext cx="636084" cy="1667658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1293635" y="231986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sp>
        <p:nvSpPr>
          <p:cNvPr id="46" name="文本框 45"/>
          <p:cNvSpPr txBox="1"/>
          <p:nvPr/>
        </p:nvSpPr>
        <p:spPr>
          <a:xfrm>
            <a:off x="4275343" y="369146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</a:t>
            </a:r>
            <a:endParaRPr kumimoji="1" lang="zh-CN" altLang="en-US" dirty="0"/>
          </a:p>
        </p:txBody>
      </p:sp>
      <p:sp>
        <p:nvSpPr>
          <p:cNvPr id="47" name="文本框 46"/>
          <p:cNvSpPr txBox="1"/>
          <p:nvPr/>
        </p:nvSpPr>
        <p:spPr>
          <a:xfrm>
            <a:off x="2090945" y="4301067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O</a:t>
            </a:r>
            <a:endParaRPr kumimoji="1" lang="zh-CN" altLang="en-US" dirty="0"/>
          </a:p>
        </p:txBody>
      </p:sp>
      <p:sp>
        <p:nvSpPr>
          <p:cNvPr id="48" name="文本框 47"/>
          <p:cNvSpPr txBox="1"/>
          <p:nvPr/>
        </p:nvSpPr>
        <p:spPr>
          <a:xfrm>
            <a:off x="3462542" y="1727202"/>
            <a:ext cx="39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O’</a:t>
            </a:r>
            <a:endParaRPr kumimoji="1" lang="zh-CN" altLang="en-US" dirty="0"/>
          </a:p>
        </p:txBody>
      </p:sp>
      <p:cxnSp>
        <p:nvCxnSpPr>
          <p:cNvPr id="50" name="直线连接符 49"/>
          <p:cNvCxnSpPr/>
          <p:nvPr/>
        </p:nvCxnSpPr>
        <p:spPr>
          <a:xfrm>
            <a:off x="137779" y="4262590"/>
            <a:ext cx="46423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连接符 51"/>
          <p:cNvCxnSpPr/>
          <p:nvPr/>
        </p:nvCxnSpPr>
        <p:spPr>
          <a:xfrm flipV="1">
            <a:off x="2433790" y="2431381"/>
            <a:ext cx="8935" cy="3638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3003904" y="292946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sp>
        <p:nvSpPr>
          <p:cNvPr id="60" name="椭圆 59"/>
          <p:cNvSpPr/>
          <p:nvPr/>
        </p:nvSpPr>
        <p:spPr>
          <a:xfrm>
            <a:off x="2856094" y="3074932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2" name="直线连接符 61"/>
          <p:cNvCxnSpPr/>
          <p:nvPr/>
        </p:nvCxnSpPr>
        <p:spPr>
          <a:xfrm>
            <a:off x="1709967" y="2137334"/>
            <a:ext cx="0" cy="1566456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1413612" y="3657598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D</a:t>
            </a:r>
            <a:endParaRPr kumimoji="1" lang="zh-CN" altLang="en-US" baseline="-25000" dirty="0"/>
          </a:p>
        </p:txBody>
      </p:sp>
      <p:cxnSp>
        <p:nvCxnSpPr>
          <p:cNvPr id="69" name="直线连接符 68"/>
          <p:cNvCxnSpPr/>
          <p:nvPr/>
        </p:nvCxnSpPr>
        <p:spPr>
          <a:xfrm flipH="1" flipV="1">
            <a:off x="1693034" y="3748173"/>
            <a:ext cx="2518969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>
          <a:xfrm>
            <a:off x="6594418" y="3114266"/>
            <a:ext cx="2930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BAO = </a:t>
            </a:r>
            <a:r>
              <a:rPr kumimoji="1" lang="en-US" altLang="zh-CN" dirty="0" err="1"/>
              <a:t>arccos</a:t>
            </a:r>
            <a:r>
              <a:rPr kumimoji="1" lang="en-US" altLang="zh-CN" dirty="0"/>
              <a:t>(|AB| / |OR|)</a:t>
            </a:r>
            <a:endParaRPr kumimoji="1" lang="zh-CN" altLang="en-US" dirty="0"/>
          </a:p>
        </p:txBody>
      </p:sp>
      <p:sp>
        <p:nvSpPr>
          <p:cNvPr id="72" name="文本框 71"/>
          <p:cNvSpPr txBox="1"/>
          <p:nvPr/>
        </p:nvSpPr>
        <p:spPr>
          <a:xfrm>
            <a:off x="3892188" y="430106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</a:t>
            </a:r>
            <a:endParaRPr kumimoji="1" lang="zh-CN" altLang="en-US" baseline="-25000" dirty="0"/>
          </a:p>
        </p:txBody>
      </p:sp>
      <p:sp>
        <p:nvSpPr>
          <p:cNvPr id="73" name="椭圆 72"/>
          <p:cNvSpPr/>
          <p:nvPr/>
        </p:nvSpPr>
        <p:spPr>
          <a:xfrm>
            <a:off x="4143027" y="4175598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6594417" y="3483598"/>
            <a:ext cx="2831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CAD = </a:t>
            </a:r>
            <a:r>
              <a:rPr kumimoji="1" lang="en-US" altLang="zh-CN" dirty="0" err="1"/>
              <a:t>artan</a:t>
            </a:r>
            <a:r>
              <a:rPr kumimoji="1" lang="en-US" altLang="zh-CN" dirty="0"/>
              <a:t>(|CD| / |DA|)</a:t>
            </a:r>
            <a:endParaRPr kumimoji="1" lang="zh-CN" altLang="en-US" dirty="0"/>
          </a:p>
        </p:txBody>
      </p:sp>
      <p:sp>
        <p:nvSpPr>
          <p:cNvPr id="75" name="文本框 74"/>
          <p:cNvSpPr txBox="1"/>
          <p:nvPr/>
        </p:nvSpPr>
        <p:spPr>
          <a:xfrm>
            <a:off x="6594417" y="3794908"/>
            <a:ext cx="2557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OAD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CAD -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BAO </a:t>
            </a:r>
            <a:endParaRPr kumimoji="1" lang="zh-CN" altLang="en-US" dirty="0"/>
          </a:p>
        </p:txBody>
      </p:sp>
      <p:sp>
        <p:nvSpPr>
          <p:cNvPr id="76" name="弧 75"/>
          <p:cNvSpPr/>
          <p:nvPr/>
        </p:nvSpPr>
        <p:spPr>
          <a:xfrm rot="20831990">
            <a:off x="1979290" y="3945797"/>
            <a:ext cx="808846" cy="828282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7" name="文本框 76"/>
          <p:cNvSpPr txBox="1"/>
          <p:nvPr/>
        </p:nvSpPr>
        <p:spPr>
          <a:xfrm>
            <a:off x="6532888" y="4689909"/>
            <a:ext cx="4839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AOR = </a:t>
            </a:r>
            <a:r>
              <a:rPr kumimoji="1" lang="el-GR" altLang="zh-CN" dirty="0"/>
              <a:t>π</a:t>
            </a:r>
            <a:r>
              <a:rPr kumimoji="1" lang="en-US" altLang="zh-CN" dirty="0"/>
              <a:t>/2</a:t>
            </a:r>
            <a:r>
              <a:rPr kumimoji="1" lang="el-GR" altLang="zh-CN" dirty="0"/>
              <a:t> </a:t>
            </a:r>
            <a:r>
              <a:rPr kumimoji="1" lang="en-US" altLang="zh-CN" dirty="0"/>
              <a:t>+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OAD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CAD + (</a:t>
            </a:r>
            <a:r>
              <a:rPr kumimoji="1" lang="el-GR" altLang="zh-CN" dirty="0"/>
              <a:t>π</a:t>
            </a:r>
            <a:r>
              <a:rPr kumimoji="1" lang="en-US" altLang="zh-CN" dirty="0"/>
              <a:t>/2</a:t>
            </a:r>
            <a:r>
              <a:rPr kumimoji="1" lang="el-GR" altLang="zh-CN" dirty="0"/>
              <a:t> </a:t>
            </a:r>
            <a:r>
              <a:rPr kumimoji="1" lang="en-US" altLang="zh-CN" dirty="0"/>
              <a:t>-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BAO) </a:t>
            </a:r>
            <a:endParaRPr kumimoji="1" lang="zh-CN" altLang="en-US" dirty="0"/>
          </a:p>
        </p:txBody>
      </p:sp>
      <p:sp>
        <p:nvSpPr>
          <p:cNvPr id="78" name="弧 77"/>
          <p:cNvSpPr/>
          <p:nvPr/>
        </p:nvSpPr>
        <p:spPr>
          <a:xfrm rot="1449285">
            <a:off x="3094878" y="4068283"/>
            <a:ext cx="258471" cy="320957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9" name="文本框 78"/>
          <p:cNvSpPr txBox="1"/>
          <p:nvPr/>
        </p:nvSpPr>
        <p:spPr>
          <a:xfrm>
            <a:off x="298063" y="197182"/>
            <a:ext cx="1610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Arc from A to C</a:t>
            </a:r>
            <a:endParaRPr kumimoji="1" lang="zh-CN" altLang="en-US" dirty="0"/>
          </a:p>
        </p:txBody>
      </p:sp>
      <p:sp>
        <p:nvSpPr>
          <p:cNvPr id="80" name="文本框 79"/>
          <p:cNvSpPr txBox="1"/>
          <p:nvPr/>
        </p:nvSpPr>
        <p:spPr>
          <a:xfrm>
            <a:off x="4908188" y="1744134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R’</a:t>
            </a:r>
            <a:endParaRPr kumimoji="1" lang="zh-CN" altLang="en-US" baseline="-25000" dirty="0"/>
          </a:p>
        </p:txBody>
      </p:sp>
      <p:sp>
        <p:nvSpPr>
          <p:cNvPr id="81" name="文本框 80"/>
          <p:cNvSpPr txBox="1"/>
          <p:nvPr/>
        </p:nvSpPr>
        <p:spPr>
          <a:xfrm>
            <a:off x="3432857" y="546752"/>
            <a:ext cx="3006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BA0’ = </a:t>
            </a:r>
            <a:r>
              <a:rPr kumimoji="1" lang="en-US" altLang="zh-CN" dirty="0" err="1"/>
              <a:t>arccos</a:t>
            </a:r>
            <a:r>
              <a:rPr kumimoji="1" lang="en-US" altLang="zh-CN" dirty="0"/>
              <a:t>(|AB| / |O’R|)</a:t>
            </a:r>
            <a:endParaRPr kumimoji="1" lang="zh-CN" altLang="en-US" dirty="0"/>
          </a:p>
        </p:txBody>
      </p:sp>
      <p:sp>
        <p:nvSpPr>
          <p:cNvPr id="82" name="文本框 81"/>
          <p:cNvSpPr txBox="1"/>
          <p:nvPr/>
        </p:nvSpPr>
        <p:spPr>
          <a:xfrm>
            <a:off x="3432856" y="916084"/>
            <a:ext cx="301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CAD = </a:t>
            </a:r>
            <a:r>
              <a:rPr kumimoji="1" lang="el-GR" altLang="zh-CN" dirty="0"/>
              <a:t>π</a:t>
            </a:r>
            <a:r>
              <a:rPr kumimoji="1" lang="en-US" altLang="zh-CN" dirty="0"/>
              <a:t> /2 +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artan</a:t>
            </a:r>
            <a:r>
              <a:rPr kumimoji="1" lang="en-US" altLang="zh-CN" dirty="0"/>
              <a:t>(DA / CD)</a:t>
            </a:r>
            <a:endParaRPr kumimoji="1" lang="zh-CN" altLang="en-US" dirty="0"/>
          </a:p>
        </p:txBody>
      </p:sp>
      <p:sp>
        <p:nvSpPr>
          <p:cNvPr id="83" name="文本框 82"/>
          <p:cNvSpPr txBox="1"/>
          <p:nvPr/>
        </p:nvSpPr>
        <p:spPr>
          <a:xfrm>
            <a:off x="3432856" y="1244327"/>
            <a:ext cx="3250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O’AD’ = </a:t>
            </a:r>
            <a:r>
              <a:rPr kumimoji="1" lang="el-GR" altLang="zh-CN" dirty="0"/>
              <a:t>π</a:t>
            </a:r>
            <a:r>
              <a:rPr kumimoji="1" lang="en-US" altLang="zh-CN" dirty="0"/>
              <a:t>  - (</a:t>
            </a:r>
            <a:r>
              <a:rPr kumimoji="1" lang="zh-CN" altLang="en-US" dirty="0"/>
              <a:t>∠</a:t>
            </a:r>
            <a:r>
              <a:rPr kumimoji="1" lang="en-US" altLang="zh-CN" dirty="0"/>
              <a:t>CAD +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BAO’) </a:t>
            </a:r>
            <a:endParaRPr kumimoji="1" lang="zh-CN" altLang="en-US" dirty="0"/>
          </a:p>
        </p:txBody>
      </p:sp>
      <p:sp>
        <p:nvSpPr>
          <p:cNvPr id="84" name="文本框 83"/>
          <p:cNvSpPr txBox="1"/>
          <p:nvPr/>
        </p:nvSpPr>
        <p:spPr>
          <a:xfrm>
            <a:off x="6690439" y="930909"/>
            <a:ext cx="5532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AO’R’ = </a:t>
            </a:r>
            <a:r>
              <a:rPr kumimoji="1" lang="el-GR" altLang="zh-CN" dirty="0"/>
              <a:t>π </a:t>
            </a:r>
            <a:r>
              <a:rPr kumimoji="1" lang="en-US" altLang="zh-CN" dirty="0"/>
              <a:t> + (</a:t>
            </a:r>
            <a:r>
              <a:rPr kumimoji="1" lang="el-GR" altLang="zh-CN" dirty="0"/>
              <a:t>π</a:t>
            </a:r>
            <a:r>
              <a:rPr kumimoji="1" lang="en-US" altLang="zh-CN" dirty="0"/>
              <a:t> /2 -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O’AD’)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CAD + (</a:t>
            </a:r>
            <a:r>
              <a:rPr kumimoji="1" lang="el-GR" altLang="zh-CN" dirty="0"/>
              <a:t>π</a:t>
            </a:r>
            <a:r>
              <a:rPr kumimoji="1" lang="en-US" altLang="zh-CN" dirty="0"/>
              <a:t> /2 +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BAO’)</a:t>
            </a:r>
            <a:endParaRPr kumimoji="1" lang="zh-CN" altLang="en-US" dirty="0"/>
          </a:p>
        </p:txBody>
      </p:sp>
      <p:sp>
        <p:nvSpPr>
          <p:cNvPr id="85" name="文本框 84"/>
          <p:cNvSpPr txBox="1"/>
          <p:nvPr/>
        </p:nvSpPr>
        <p:spPr>
          <a:xfrm>
            <a:off x="1701478" y="1761063"/>
            <a:ext cx="385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D’</a:t>
            </a:r>
            <a:endParaRPr kumimoji="1" lang="zh-CN" altLang="en-US" baseline="-25000" dirty="0"/>
          </a:p>
        </p:txBody>
      </p:sp>
      <p:sp>
        <p:nvSpPr>
          <p:cNvPr id="86" name="文本框 85"/>
          <p:cNvSpPr txBox="1"/>
          <p:nvPr/>
        </p:nvSpPr>
        <p:spPr>
          <a:xfrm>
            <a:off x="6399735" y="569736"/>
            <a:ext cx="2527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If </a:t>
            </a:r>
            <a:r>
              <a:rPr kumimoji="1" lang="en-US" altLang="zh-CN" dirty="0" err="1"/>
              <a:t>closewise</a:t>
            </a:r>
            <a:r>
              <a:rPr kumimoji="1" lang="en-US" altLang="zh-CN" dirty="0"/>
              <a:t> and large arc</a:t>
            </a:r>
            <a:endParaRPr kumimoji="1" lang="zh-CN" altLang="en-US" dirty="0"/>
          </a:p>
        </p:txBody>
      </p:sp>
      <p:sp>
        <p:nvSpPr>
          <p:cNvPr id="87" name="文本框 86"/>
          <p:cNvSpPr txBox="1"/>
          <p:nvPr/>
        </p:nvSpPr>
        <p:spPr>
          <a:xfrm>
            <a:off x="6399735" y="1639316"/>
            <a:ext cx="2985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If anti-</a:t>
            </a:r>
            <a:r>
              <a:rPr kumimoji="1" lang="en-US" altLang="zh-CN" dirty="0" err="1"/>
              <a:t>closewise</a:t>
            </a:r>
            <a:r>
              <a:rPr kumimoji="1" lang="en-US" altLang="zh-CN" dirty="0"/>
              <a:t> and small arc</a:t>
            </a:r>
            <a:endParaRPr kumimoji="1" lang="zh-CN" altLang="en-US" dirty="0"/>
          </a:p>
        </p:txBody>
      </p:sp>
      <p:sp>
        <p:nvSpPr>
          <p:cNvPr id="88" name="文本框 87"/>
          <p:cNvSpPr txBox="1"/>
          <p:nvPr/>
        </p:nvSpPr>
        <p:spPr>
          <a:xfrm>
            <a:off x="6637156" y="2052224"/>
            <a:ext cx="624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AO’R’ = - </a:t>
            </a:r>
            <a:r>
              <a:rPr kumimoji="1" lang="el-GR" altLang="zh-CN" dirty="0"/>
              <a:t>π </a:t>
            </a:r>
            <a:r>
              <a:rPr kumimoji="1" lang="en-US" altLang="zh-CN" dirty="0"/>
              <a:t>+(</a:t>
            </a:r>
            <a:r>
              <a:rPr kumimoji="1" lang="el-GR" altLang="zh-CN" dirty="0"/>
              <a:t>π</a:t>
            </a:r>
            <a:r>
              <a:rPr kumimoji="1" lang="en-US" altLang="zh-CN" dirty="0"/>
              <a:t> /2 -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O’AD’) =  - 2</a:t>
            </a:r>
            <a:r>
              <a:rPr kumimoji="1" lang="el-GR" altLang="zh-CN" dirty="0"/>
              <a:t>π</a:t>
            </a:r>
            <a:r>
              <a:rPr kumimoji="1" lang="en-US" altLang="zh-CN" dirty="0"/>
              <a:t> +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CAD + (</a:t>
            </a:r>
            <a:r>
              <a:rPr kumimoji="1" lang="el-GR" altLang="zh-CN" dirty="0"/>
              <a:t>π</a:t>
            </a:r>
            <a:r>
              <a:rPr kumimoji="1" lang="en-US" altLang="zh-CN" dirty="0"/>
              <a:t> /2 +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BAO’)</a:t>
            </a:r>
            <a:endParaRPr kumimoji="1" lang="zh-CN" altLang="en-US" dirty="0"/>
          </a:p>
        </p:txBody>
      </p:sp>
      <p:sp>
        <p:nvSpPr>
          <p:cNvPr id="89" name="文本框 88"/>
          <p:cNvSpPr txBox="1"/>
          <p:nvPr/>
        </p:nvSpPr>
        <p:spPr>
          <a:xfrm>
            <a:off x="3432857" y="192673"/>
            <a:ext cx="328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A0’C = </a:t>
            </a:r>
            <a:r>
              <a:rPr kumimoji="1" lang="en-US" altLang="zh-CN" dirty="0" err="1"/>
              <a:t>arcsin</a:t>
            </a:r>
            <a:r>
              <a:rPr kumimoji="1" lang="en-US" altLang="zh-CN" dirty="0"/>
              <a:t>(|AB| / |O’R|) * 2</a:t>
            </a:r>
            <a:endParaRPr kumimoji="1" lang="zh-CN" altLang="en-US" dirty="0"/>
          </a:p>
        </p:txBody>
      </p:sp>
      <p:sp>
        <p:nvSpPr>
          <p:cNvPr id="90" name="文本框 89"/>
          <p:cNvSpPr txBox="1"/>
          <p:nvPr/>
        </p:nvSpPr>
        <p:spPr>
          <a:xfrm>
            <a:off x="6659974" y="1323707"/>
            <a:ext cx="3639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R’O’C = - 2</a:t>
            </a:r>
            <a:r>
              <a:rPr kumimoji="1" lang="el-GR" altLang="zh-CN" dirty="0"/>
              <a:t>π</a:t>
            </a:r>
            <a:r>
              <a:rPr kumimoji="1" lang="en-US" altLang="zh-CN" dirty="0"/>
              <a:t> + (</a:t>
            </a:r>
            <a:r>
              <a:rPr kumimoji="1" lang="zh-CN" altLang="en-US" dirty="0"/>
              <a:t>∠</a:t>
            </a:r>
            <a:r>
              <a:rPr kumimoji="1" lang="en-US" altLang="zh-CN" dirty="0"/>
              <a:t>AO’R’  +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AO’C) </a:t>
            </a:r>
            <a:endParaRPr kumimoji="1" lang="zh-CN" altLang="en-US" dirty="0"/>
          </a:p>
        </p:txBody>
      </p:sp>
      <p:sp>
        <p:nvSpPr>
          <p:cNvPr id="91" name="文本框 90"/>
          <p:cNvSpPr txBox="1"/>
          <p:nvPr/>
        </p:nvSpPr>
        <p:spPr>
          <a:xfrm>
            <a:off x="6637156" y="2377980"/>
            <a:ext cx="2869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CO’R’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AO’R’ +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AO’C </a:t>
            </a:r>
            <a:endParaRPr kumimoji="1" lang="zh-CN" altLang="en-US" dirty="0"/>
          </a:p>
        </p:txBody>
      </p:sp>
      <p:sp>
        <p:nvSpPr>
          <p:cNvPr id="92" name="文本框 91"/>
          <p:cNvSpPr txBox="1"/>
          <p:nvPr/>
        </p:nvSpPr>
        <p:spPr>
          <a:xfrm>
            <a:off x="2209236" y="192673"/>
            <a:ext cx="1092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Top Circle</a:t>
            </a:r>
            <a:endParaRPr kumimoji="1" lang="zh-CN" altLang="en-US" dirty="0"/>
          </a:p>
        </p:txBody>
      </p:sp>
      <p:sp>
        <p:nvSpPr>
          <p:cNvPr id="93" name="文本框 92"/>
          <p:cNvSpPr txBox="1"/>
          <p:nvPr/>
        </p:nvSpPr>
        <p:spPr>
          <a:xfrm>
            <a:off x="5242097" y="2771786"/>
            <a:ext cx="1458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Bottom Circle</a:t>
            </a:r>
            <a:endParaRPr kumimoji="1" lang="zh-CN" altLang="en-US" dirty="0"/>
          </a:p>
        </p:txBody>
      </p:sp>
      <p:sp>
        <p:nvSpPr>
          <p:cNvPr id="94" name="文本框 93"/>
          <p:cNvSpPr txBox="1"/>
          <p:nvPr/>
        </p:nvSpPr>
        <p:spPr>
          <a:xfrm>
            <a:off x="6594417" y="2771786"/>
            <a:ext cx="3252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C0A = </a:t>
            </a:r>
            <a:r>
              <a:rPr kumimoji="1" lang="en-US" altLang="zh-CN" dirty="0" err="1"/>
              <a:t>arcsin</a:t>
            </a:r>
            <a:r>
              <a:rPr kumimoji="1" lang="en-US" altLang="zh-CN" dirty="0"/>
              <a:t>(|AB| / |O’R|) * 2</a:t>
            </a:r>
            <a:endParaRPr kumimoji="1" lang="zh-CN" altLang="en-US" dirty="0"/>
          </a:p>
        </p:txBody>
      </p:sp>
      <p:sp>
        <p:nvSpPr>
          <p:cNvPr id="95" name="文本框 94"/>
          <p:cNvSpPr txBox="1"/>
          <p:nvPr/>
        </p:nvSpPr>
        <p:spPr>
          <a:xfrm>
            <a:off x="6239763" y="4329944"/>
            <a:ext cx="2554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If </a:t>
            </a:r>
            <a:r>
              <a:rPr kumimoji="1" lang="en-US" altLang="zh-CN" dirty="0" err="1"/>
              <a:t>closewise</a:t>
            </a:r>
            <a:r>
              <a:rPr kumimoji="1" lang="en-US" altLang="zh-CN" dirty="0"/>
              <a:t> and small arc</a:t>
            </a:r>
            <a:endParaRPr kumimoji="1" lang="zh-CN" altLang="en-US" dirty="0"/>
          </a:p>
        </p:txBody>
      </p:sp>
      <p:sp>
        <p:nvSpPr>
          <p:cNvPr id="96" name="文本框 95"/>
          <p:cNvSpPr txBox="1"/>
          <p:nvPr/>
        </p:nvSpPr>
        <p:spPr>
          <a:xfrm>
            <a:off x="6532888" y="5065390"/>
            <a:ext cx="2538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COR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AOR -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COA </a:t>
            </a:r>
            <a:endParaRPr kumimoji="1" lang="zh-CN" altLang="en-US" dirty="0"/>
          </a:p>
        </p:txBody>
      </p:sp>
      <p:sp>
        <p:nvSpPr>
          <p:cNvPr id="97" name="文本框 96"/>
          <p:cNvSpPr txBox="1"/>
          <p:nvPr/>
        </p:nvSpPr>
        <p:spPr>
          <a:xfrm>
            <a:off x="6533173" y="5869314"/>
            <a:ext cx="599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AOR = - </a:t>
            </a:r>
            <a:r>
              <a:rPr kumimoji="1" lang="el-GR" altLang="zh-CN" dirty="0"/>
              <a:t>π </a:t>
            </a:r>
            <a:r>
              <a:rPr kumimoji="1" lang="en-US" altLang="zh-CN" dirty="0"/>
              <a:t>- (</a:t>
            </a:r>
            <a:r>
              <a:rPr kumimoji="1" lang="el-GR" altLang="zh-CN" dirty="0"/>
              <a:t>π</a:t>
            </a:r>
            <a:r>
              <a:rPr kumimoji="1" lang="en-US" altLang="zh-CN" dirty="0"/>
              <a:t>/2</a:t>
            </a:r>
            <a:r>
              <a:rPr kumimoji="1" lang="el-GR" altLang="zh-CN" dirty="0"/>
              <a:t> </a:t>
            </a:r>
            <a:r>
              <a:rPr kumimoji="1" lang="en-US" altLang="zh-CN" dirty="0"/>
              <a:t>-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OAD) = = - 2</a:t>
            </a:r>
            <a:r>
              <a:rPr kumimoji="1" lang="el-GR" altLang="zh-CN" dirty="0"/>
              <a:t>π </a:t>
            </a:r>
            <a:r>
              <a:rPr kumimoji="1" lang="en-US" altLang="zh-CN" dirty="0"/>
              <a:t>+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CAD + (</a:t>
            </a:r>
            <a:r>
              <a:rPr kumimoji="1" lang="el-GR" altLang="zh-CN" dirty="0"/>
              <a:t>π</a:t>
            </a:r>
            <a:r>
              <a:rPr kumimoji="1" lang="en-US" altLang="zh-CN" dirty="0"/>
              <a:t>/2</a:t>
            </a:r>
            <a:r>
              <a:rPr kumimoji="1" lang="el-GR" altLang="zh-CN" dirty="0"/>
              <a:t> </a:t>
            </a:r>
            <a:r>
              <a:rPr kumimoji="1" lang="en-US" altLang="zh-CN" dirty="0"/>
              <a:t>-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BAO) </a:t>
            </a:r>
            <a:endParaRPr kumimoji="1" lang="zh-CN" altLang="en-US" dirty="0"/>
          </a:p>
        </p:txBody>
      </p:sp>
      <p:sp>
        <p:nvSpPr>
          <p:cNvPr id="98" name="文本框 97"/>
          <p:cNvSpPr txBox="1"/>
          <p:nvPr/>
        </p:nvSpPr>
        <p:spPr>
          <a:xfrm>
            <a:off x="6240048" y="5509349"/>
            <a:ext cx="2958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If anti-</a:t>
            </a:r>
            <a:r>
              <a:rPr kumimoji="1" lang="en-US" altLang="zh-CN" dirty="0" err="1"/>
              <a:t>closewise</a:t>
            </a:r>
            <a:r>
              <a:rPr kumimoji="1" lang="en-US" altLang="zh-CN" dirty="0"/>
              <a:t> and large arc</a:t>
            </a:r>
            <a:endParaRPr kumimoji="1" lang="zh-CN" altLang="en-US" dirty="0"/>
          </a:p>
        </p:txBody>
      </p:sp>
      <p:sp>
        <p:nvSpPr>
          <p:cNvPr id="99" name="文本框 98"/>
          <p:cNvSpPr txBox="1"/>
          <p:nvPr/>
        </p:nvSpPr>
        <p:spPr>
          <a:xfrm>
            <a:off x="6533173" y="6244795"/>
            <a:ext cx="3004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ROC = 2</a:t>
            </a:r>
            <a:r>
              <a:rPr kumimoji="1" lang="el-GR" altLang="zh-CN" dirty="0"/>
              <a:t>π </a:t>
            </a:r>
            <a:r>
              <a:rPr kumimoji="1" lang="en-US" altLang="zh-CN" dirty="0"/>
              <a:t>+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AOR -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COA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4952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823789" y="481389"/>
            <a:ext cx="3600000" cy="360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1761169" y="2688994"/>
            <a:ext cx="3600000" cy="360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" name="直线连接符 3"/>
          <p:cNvCxnSpPr/>
          <p:nvPr/>
        </p:nvCxnSpPr>
        <p:spPr>
          <a:xfrm flipH="1">
            <a:off x="1835928" y="2858327"/>
            <a:ext cx="2512669" cy="10537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连接符 6"/>
          <p:cNvCxnSpPr>
            <a:stCxn id="2" idx="2"/>
            <a:endCxn id="2" idx="6"/>
          </p:cNvCxnSpPr>
          <p:nvPr/>
        </p:nvCxnSpPr>
        <p:spPr>
          <a:xfrm>
            <a:off x="823789" y="2281389"/>
            <a:ext cx="36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/>
          <p:cNvCxnSpPr>
            <a:stCxn id="2" idx="0"/>
            <a:endCxn id="2" idx="4"/>
          </p:cNvCxnSpPr>
          <p:nvPr/>
        </p:nvCxnSpPr>
        <p:spPr>
          <a:xfrm>
            <a:off x="2623789" y="481389"/>
            <a:ext cx="0" cy="360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/>
          <p:cNvCxnSpPr>
            <a:stCxn id="3" idx="2"/>
            <a:endCxn id="3" idx="6"/>
          </p:cNvCxnSpPr>
          <p:nvPr/>
        </p:nvCxnSpPr>
        <p:spPr>
          <a:xfrm>
            <a:off x="1761169" y="4488994"/>
            <a:ext cx="36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9"/>
          <p:cNvCxnSpPr>
            <a:stCxn id="3" idx="4"/>
            <a:endCxn id="3" idx="0"/>
          </p:cNvCxnSpPr>
          <p:nvPr/>
        </p:nvCxnSpPr>
        <p:spPr>
          <a:xfrm flipV="1">
            <a:off x="3561169" y="2688994"/>
            <a:ext cx="0" cy="360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20"/>
          <p:cNvCxnSpPr/>
          <p:nvPr/>
        </p:nvCxnSpPr>
        <p:spPr>
          <a:xfrm>
            <a:off x="1835928" y="3912055"/>
            <a:ext cx="1725239" cy="576938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/>
          <p:cNvCxnSpPr/>
          <p:nvPr/>
        </p:nvCxnSpPr>
        <p:spPr>
          <a:xfrm flipV="1">
            <a:off x="3560950" y="2858327"/>
            <a:ext cx="787645" cy="1630666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/>
          <p:cNvCxnSpPr/>
          <p:nvPr/>
        </p:nvCxnSpPr>
        <p:spPr>
          <a:xfrm flipH="1">
            <a:off x="1835925" y="2281389"/>
            <a:ext cx="787864" cy="1630665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/>
          <p:cNvCxnSpPr/>
          <p:nvPr/>
        </p:nvCxnSpPr>
        <p:spPr>
          <a:xfrm>
            <a:off x="2623789" y="2281389"/>
            <a:ext cx="1724805" cy="576938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连接符 28"/>
          <p:cNvCxnSpPr/>
          <p:nvPr/>
        </p:nvCxnSpPr>
        <p:spPr>
          <a:xfrm>
            <a:off x="2623789" y="2281389"/>
            <a:ext cx="937378" cy="220760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/>
          <p:cNvCxnSpPr/>
          <p:nvPr/>
        </p:nvCxnSpPr>
        <p:spPr>
          <a:xfrm>
            <a:off x="1835925" y="3912054"/>
            <a:ext cx="2512669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/>
          <p:cNvCxnSpPr/>
          <p:nvPr/>
        </p:nvCxnSpPr>
        <p:spPr>
          <a:xfrm>
            <a:off x="4348594" y="2858327"/>
            <a:ext cx="0" cy="10537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椭圆 49"/>
          <p:cNvSpPr/>
          <p:nvPr/>
        </p:nvSpPr>
        <p:spPr>
          <a:xfrm>
            <a:off x="2537751" y="2176781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椭圆 50"/>
          <p:cNvSpPr/>
          <p:nvPr/>
        </p:nvSpPr>
        <p:spPr>
          <a:xfrm>
            <a:off x="1792686" y="3802379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3469086" y="4411977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椭圆 52"/>
          <p:cNvSpPr/>
          <p:nvPr/>
        </p:nvSpPr>
        <p:spPr>
          <a:xfrm>
            <a:off x="4264953" y="2769445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1405467" y="384432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A</a:t>
            </a:r>
            <a:endParaRPr kumimoji="1" lang="zh-CN" altLang="en-US" dirty="0"/>
          </a:p>
        </p:txBody>
      </p:sp>
      <p:sp>
        <p:nvSpPr>
          <p:cNvPr id="55" name="文本框 54"/>
          <p:cNvSpPr txBox="1"/>
          <p:nvPr/>
        </p:nvSpPr>
        <p:spPr>
          <a:xfrm>
            <a:off x="4436531" y="259125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</a:t>
            </a:r>
            <a:endParaRPr kumimoji="1" lang="zh-CN" altLang="en-US" dirty="0"/>
          </a:p>
        </p:txBody>
      </p:sp>
      <p:sp>
        <p:nvSpPr>
          <p:cNvPr id="56" name="文本框 55"/>
          <p:cNvSpPr txBox="1"/>
          <p:nvPr/>
        </p:nvSpPr>
        <p:spPr>
          <a:xfrm>
            <a:off x="3115733" y="294685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sp>
        <p:nvSpPr>
          <p:cNvPr id="57" name="椭圆 56"/>
          <p:cNvSpPr/>
          <p:nvPr/>
        </p:nvSpPr>
        <p:spPr>
          <a:xfrm>
            <a:off x="3028819" y="3294379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3623735" y="450731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O</a:t>
            </a:r>
            <a:endParaRPr kumimoji="1" lang="zh-CN" altLang="en-US" dirty="0"/>
          </a:p>
        </p:txBody>
      </p:sp>
      <p:sp>
        <p:nvSpPr>
          <p:cNvPr id="59" name="文本框 58"/>
          <p:cNvSpPr txBox="1"/>
          <p:nvPr/>
        </p:nvSpPr>
        <p:spPr>
          <a:xfrm>
            <a:off x="5435599" y="449037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</a:t>
            </a:r>
            <a:endParaRPr kumimoji="1" lang="zh-CN" altLang="en-US" dirty="0"/>
          </a:p>
        </p:txBody>
      </p:sp>
      <p:sp>
        <p:nvSpPr>
          <p:cNvPr id="60" name="椭圆 59"/>
          <p:cNvSpPr/>
          <p:nvPr/>
        </p:nvSpPr>
        <p:spPr>
          <a:xfrm>
            <a:off x="5280951" y="4395043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4372097" y="3844322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D</a:t>
            </a:r>
            <a:endParaRPr kumimoji="1" lang="zh-CN" altLang="en-US" dirty="0"/>
          </a:p>
        </p:txBody>
      </p:sp>
      <p:sp>
        <p:nvSpPr>
          <p:cNvPr id="62" name="椭圆 61"/>
          <p:cNvSpPr/>
          <p:nvPr/>
        </p:nvSpPr>
        <p:spPr>
          <a:xfrm>
            <a:off x="4332685" y="2210644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4530100" y="2128990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R’</a:t>
            </a:r>
            <a:endParaRPr kumimoji="1" lang="zh-CN" altLang="en-US" dirty="0"/>
          </a:p>
        </p:txBody>
      </p:sp>
      <p:sp>
        <p:nvSpPr>
          <p:cNvPr id="64" name="文本框 63"/>
          <p:cNvSpPr txBox="1"/>
          <p:nvPr/>
        </p:nvSpPr>
        <p:spPr>
          <a:xfrm>
            <a:off x="2218268" y="1896533"/>
            <a:ext cx="39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O’</a:t>
            </a:r>
            <a:endParaRPr kumimoji="1" lang="zh-CN" altLang="en-US" dirty="0"/>
          </a:p>
        </p:txBody>
      </p:sp>
      <p:sp>
        <p:nvSpPr>
          <p:cNvPr id="65" name="文本框 64"/>
          <p:cNvSpPr txBox="1"/>
          <p:nvPr/>
        </p:nvSpPr>
        <p:spPr>
          <a:xfrm>
            <a:off x="1249587" y="504880"/>
            <a:ext cx="3006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BA0’ = </a:t>
            </a:r>
            <a:r>
              <a:rPr kumimoji="1" lang="en-US" altLang="zh-CN" dirty="0" err="1"/>
              <a:t>arccos</a:t>
            </a:r>
            <a:r>
              <a:rPr kumimoji="1" lang="en-US" altLang="zh-CN" dirty="0"/>
              <a:t>(|AB| / |O’R|)</a:t>
            </a:r>
            <a:endParaRPr kumimoji="1" lang="zh-CN" altLang="en-US" dirty="0"/>
          </a:p>
        </p:txBody>
      </p:sp>
      <p:sp>
        <p:nvSpPr>
          <p:cNvPr id="66" name="文本框 65"/>
          <p:cNvSpPr txBox="1"/>
          <p:nvPr/>
        </p:nvSpPr>
        <p:spPr>
          <a:xfrm>
            <a:off x="1249586" y="874212"/>
            <a:ext cx="246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CAD =  </a:t>
            </a:r>
            <a:r>
              <a:rPr kumimoji="1" lang="en-US" altLang="zh-CN" dirty="0" err="1"/>
              <a:t>artan</a:t>
            </a:r>
            <a:r>
              <a:rPr kumimoji="1" lang="en-US" altLang="zh-CN" dirty="0"/>
              <a:t>(CD / DA)</a:t>
            </a:r>
            <a:endParaRPr kumimoji="1" lang="zh-CN" altLang="en-US" dirty="0"/>
          </a:p>
        </p:txBody>
      </p:sp>
      <p:sp>
        <p:nvSpPr>
          <p:cNvPr id="67" name="文本框 66"/>
          <p:cNvSpPr txBox="1"/>
          <p:nvPr/>
        </p:nvSpPr>
        <p:spPr>
          <a:xfrm>
            <a:off x="1249586" y="1202455"/>
            <a:ext cx="275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O’AD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CAD +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BAO’ </a:t>
            </a:r>
            <a:endParaRPr kumimoji="1" lang="zh-CN" altLang="en-US" dirty="0"/>
          </a:p>
        </p:txBody>
      </p:sp>
      <p:sp>
        <p:nvSpPr>
          <p:cNvPr id="68" name="文本框 67"/>
          <p:cNvSpPr txBox="1"/>
          <p:nvPr/>
        </p:nvSpPr>
        <p:spPr>
          <a:xfrm>
            <a:off x="1249587" y="150801"/>
            <a:ext cx="328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A0’C = </a:t>
            </a:r>
            <a:r>
              <a:rPr kumimoji="1" lang="en-US" altLang="zh-CN" dirty="0" err="1"/>
              <a:t>arcsin</a:t>
            </a:r>
            <a:r>
              <a:rPr kumimoji="1" lang="en-US" altLang="zh-CN" dirty="0"/>
              <a:t>(|AB| / |O’R|) * 2</a:t>
            </a:r>
            <a:endParaRPr kumimoji="1" lang="zh-CN" altLang="en-US" dirty="0"/>
          </a:p>
        </p:txBody>
      </p:sp>
      <p:sp>
        <p:nvSpPr>
          <p:cNvPr id="69" name="文本框 68"/>
          <p:cNvSpPr txBox="1"/>
          <p:nvPr/>
        </p:nvSpPr>
        <p:spPr>
          <a:xfrm>
            <a:off x="70006" y="150801"/>
            <a:ext cx="1092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Top Circle</a:t>
            </a:r>
            <a:endParaRPr kumimoji="1" lang="zh-CN" altLang="en-US" dirty="0"/>
          </a:p>
        </p:txBody>
      </p:sp>
      <p:sp>
        <p:nvSpPr>
          <p:cNvPr id="70" name="文本框 69"/>
          <p:cNvSpPr txBox="1"/>
          <p:nvPr/>
        </p:nvSpPr>
        <p:spPr>
          <a:xfrm>
            <a:off x="6015831" y="511974"/>
            <a:ext cx="576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AO’R’ = </a:t>
            </a:r>
            <a:r>
              <a:rPr kumimoji="1" lang="el-GR" altLang="zh-CN" dirty="0"/>
              <a:t>π</a:t>
            </a:r>
            <a:r>
              <a:rPr kumimoji="1" lang="en-US" altLang="zh-CN" dirty="0"/>
              <a:t>  +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O’AD  = (</a:t>
            </a:r>
            <a:r>
              <a:rPr kumimoji="1" lang="el-GR" altLang="zh-CN" dirty="0"/>
              <a:t>π</a:t>
            </a:r>
            <a:r>
              <a:rPr kumimoji="1" lang="en-US" altLang="zh-CN" dirty="0"/>
              <a:t>/2  +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CAD)</a:t>
            </a:r>
            <a:r>
              <a:rPr kumimoji="1" lang="el-GR" altLang="zh-CN" dirty="0"/>
              <a:t> </a:t>
            </a:r>
            <a:r>
              <a:rPr kumimoji="1" lang="en-US" altLang="zh-CN" dirty="0"/>
              <a:t> + (</a:t>
            </a:r>
            <a:r>
              <a:rPr kumimoji="1" lang="el-GR" altLang="zh-CN" dirty="0"/>
              <a:t>π</a:t>
            </a:r>
            <a:r>
              <a:rPr kumimoji="1" lang="en-US" altLang="zh-CN" dirty="0"/>
              <a:t>/2  +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BAO’ )</a:t>
            </a:r>
            <a:endParaRPr kumimoji="1" lang="zh-CN" altLang="en-US" dirty="0"/>
          </a:p>
        </p:txBody>
      </p:sp>
      <p:sp>
        <p:nvSpPr>
          <p:cNvPr id="71" name="文本框 70"/>
          <p:cNvSpPr txBox="1"/>
          <p:nvPr/>
        </p:nvSpPr>
        <p:spPr>
          <a:xfrm>
            <a:off x="5725127" y="150801"/>
            <a:ext cx="2527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If </a:t>
            </a:r>
            <a:r>
              <a:rPr kumimoji="1" lang="en-US" altLang="zh-CN" dirty="0" err="1"/>
              <a:t>closewise</a:t>
            </a:r>
            <a:r>
              <a:rPr kumimoji="1" lang="en-US" altLang="zh-CN" dirty="0"/>
              <a:t> and large arc</a:t>
            </a:r>
            <a:endParaRPr kumimoji="1" lang="zh-CN" altLang="en-US" dirty="0"/>
          </a:p>
        </p:txBody>
      </p:sp>
      <p:sp>
        <p:nvSpPr>
          <p:cNvPr id="72" name="文本框 71"/>
          <p:cNvSpPr txBox="1"/>
          <p:nvPr/>
        </p:nvSpPr>
        <p:spPr>
          <a:xfrm>
            <a:off x="5745299" y="1351494"/>
            <a:ext cx="2985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If anti-</a:t>
            </a:r>
            <a:r>
              <a:rPr kumimoji="1" lang="en-US" altLang="zh-CN" dirty="0" err="1"/>
              <a:t>closewise</a:t>
            </a:r>
            <a:r>
              <a:rPr kumimoji="1" lang="en-US" altLang="zh-CN" dirty="0"/>
              <a:t> and small arc</a:t>
            </a:r>
            <a:endParaRPr kumimoji="1" lang="zh-CN" altLang="en-US" dirty="0"/>
          </a:p>
        </p:txBody>
      </p:sp>
      <p:sp>
        <p:nvSpPr>
          <p:cNvPr id="73" name="文本框 72"/>
          <p:cNvSpPr txBox="1"/>
          <p:nvPr/>
        </p:nvSpPr>
        <p:spPr>
          <a:xfrm>
            <a:off x="5982720" y="1764402"/>
            <a:ext cx="6449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AO’R’ = - </a:t>
            </a:r>
            <a:r>
              <a:rPr kumimoji="1" lang="el-GR" altLang="zh-CN" dirty="0"/>
              <a:t>π</a:t>
            </a:r>
            <a:r>
              <a:rPr kumimoji="1" lang="en-US" altLang="zh-CN" dirty="0"/>
              <a:t>  +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O’AD  = - 2</a:t>
            </a:r>
            <a:r>
              <a:rPr kumimoji="1" lang="el-GR" altLang="zh-CN" dirty="0"/>
              <a:t>π</a:t>
            </a:r>
            <a:r>
              <a:rPr kumimoji="1" lang="en-US" altLang="zh-CN" dirty="0"/>
              <a:t> + (</a:t>
            </a:r>
            <a:r>
              <a:rPr kumimoji="1" lang="el-GR" altLang="zh-CN" dirty="0"/>
              <a:t>π</a:t>
            </a:r>
            <a:r>
              <a:rPr kumimoji="1" lang="en-US" altLang="zh-CN" dirty="0"/>
              <a:t>/2  +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CAD) + (</a:t>
            </a:r>
            <a:r>
              <a:rPr kumimoji="1" lang="el-GR" altLang="zh-CN" dirty="0"/>
              <a:t>π</a:t>
            </a:r>
            <a:r>
              <a:rPr kumimoji="1" lang="en-US" altLang="zh-CN" dirty="0"/>
              <a:t>/2  +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BAO’ ) </a:t>
            </a:r>
            <a:endParaRPr kumimoji="1" lang="zh-CN" altLang="en-US" dirty="0"/>
          </a:p>
        </p:txBody>
      </p:sp>
      <p:sp>
        <p:nvSpPr>
          <p:cNvPr id="74" name="文本框 73"/>
          <p:cNvSpPr txBox="1"/>
          <p:nvPr/>
        </p:nvSpPr>
        <p:spPr>
          <a:xfrm>
            <a:off x="5985366" y="904772"/>
            <a:ext cx="3639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R’O’C = - 2</a:t>
            </a:r>
            <a:r>
              <a:rPr kumimoji="1" lang="el-GR" altLang="zh-CN" dirty="0"/>
              <a:t>π</a:t>
            </a:r>
            <a:r>
              <a:rPr kumimoji="1" lang="en-US" altLang="zh-CN" dirty="0"/>
              <a:t> + (</a:t>
            </a:r>
            <a:r>
              <a:rPr kumimoji="1" lang="zh-CN" altLang="en-US" dirty="0"/>
              <a:t>∠</a:t>
            </a:r>
            <a:r>
              <a:rPr kumimoji="1" lang="en-US" altLang="zh-CN" dirty="0"/>
              <a:t>AO’R’  +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AO’C) </a:t>
            </a:r>
            <a:endParaRPr kumimoji="1" lang="zh-CN" altLang="en-US" dirty="0"/>
          </a:p>
        </p:txBody>
      </p:sp>
      <p:sp>
        <p:nvSpPr>
          <p:cNvPr id="75" name="文本框 74"/>
          <p:cNvSpPr txBox="1"/>
          <p:nvPr/>
        </p:nvSpPr>
        <p:spPr>
          <a:xfrm>
            <a:off x="5982720" y="2090158"/>
            <a:ext cx="2869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CO’R’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AO’R’ +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AO’C </a:t>
            </a:r>
            <a:endParaRPr kumimoji="1" lang="zh-CN" altLang="en-US" dirty="0"/>
          </a:p>
        </p:txBody>
      </p:sp>
      <p:sp>
        <p:nvSpPr>
          <p:cNvPr id="76" name="文本框 75"/>
          <p:cNvSpPr txBox="1"/>
          <p:nvPr/>
        </p:nvSpPr>
        <p:spPr>
          <a:xfrm>
            <a:off x="6680258" y="3196947"/>
            <a:ext cx="2930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BAO = </a:t>
            </a:r>
            <a:r>
              <a:rPr kumimoji="1" lang="en-US" altLang="zh-CN" dirty="0" err="1"/>
              <a:t>arccos</a:t>
            </a:r>
            <a:r>
              <a:rPr kumimoji="1" lang="en-US" altLang="zh-CN" dirty="0"/>
              <a:t>(|AB| / |OR|)</a:t>
            </a:r>
            <a:endParaRPr kumimoji="1" lang="zh-CN" altLang="en-US" dirty="0"/>
          </a:p>
        </p:txBody>
      </p:sp>
      <p:sp>
        <p:nvSpPr>
          <p:cNvPr id="77" name="文本框 76"/>
          <p:cNvSpPr txBox="1"/>
          <p:nvPr/>
        </p:nvSpPr>
        <p:spPr>
          <a:xfrm>
            <a:off x="6680257" y="3566279"/>
            <a:ext cx="2831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CAD = </a:t>
            </a:r>
            <a:r>
              <a:rPr kumimoji="1" lang="en-US" altLang="zh-CN" dirty="0" err="1"/>
              <a:t>artan</a:t>
            </a:r>
            <a:r>
              <a:rPr kumimoji="1" lang="en-US" altLang="zh-CN" dirty="0"/>
              <a:t>(|CD| / |DA|)</a:t>
            </a:r>
            <a:endParaRPr kumimoji="1" lang="zh-CN" altLang="en-US" dirty="0"/>
          </a:p>
        </p:txBody>
      </p:sp>
      <p:sp>
        <p:nvSpPr>
          <p:cNvPr id="78" name="文本框 77"/>
          <p:cNvSpPr txBox="1"/>
          <p:nvPr/>
        </p:nvSpPr>
        <p:spPr>
          <a:xfrm>
            <a:off x="6680257" y="3877589"/>
            <a:ext cx="2557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OAD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BAO -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CAD </a:t>
            </a:r>
            <a:endParaRPr kumimoji="1" lang="zh-CN" altLang="en-US" dirty="0"/>
          </a:p>
        </p:txBody>
      </p:sp>
      <p:sp>
        <p:nvSpPr>
          <p:cNvPr id="79" name="文本框 78"/>
          <p:cNvSpPr txBox="1"/>
          <p:nvPr/>
        </p:nvSpPr>
        <p:spPr>
          <a:xfrm>
            <a:off x="5327937" y="2854467"/>
            <a:ext cx="1458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Bottom Circle</a:t>
            </a:r>
            <a:endParaRPr kumimoji="1" lang="zh-CN" altLang="en-US" dirty="0"/>
          </a:p>
        </p:txBody>
      </p:sp>
      <p:sp>
        <p:nvSpPr>
          <p:cNvPr id="80" name="文本框 79"/>
          <p:cNvSpPr txBox="1"/>
          <p:nvPr/>
        </p:nvSpPr>
        <p:spPr>
          <a:xfrm>
            <a:off x="6680257" y="2854467"/>
            <a:ext cx="3252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C0A = </a:t>
            </a:r>
            <a:r>
              <a:rPr kumimoji="1" lang="en-US" altLang="zh-CN" dirty="0" err="1"/>
              <a:t>arcsin</a:t>
            </a:r>
            <a:r>
              <a:rPr kumimoji="1" lang="en-US" altLang="zh-CN" dirty="0"/>
              <a:t>(|AB| / |O’R|) * 2</a:t>
            </a:r>
            <a:endParaRPr kumimoji="1" lang="zh-CN" altLang="en-US" dirty="0"/>
          </a:p>
        </p:txBody>
      </p:sp>
      <p:sp>
        <p:nvSpPr>
          <p:cNvPr id="81" name="文本框 80"/>
          <p:cNvSpPr txBox="1"/>
          <p:nvPr/>
        </p:nvSpPr>
        <p:spPr>
          <a:xfrm>
            <a:off x="5990937" y="4893917"/>
            <a:ext cx="5294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AOR = </a:t>
            </a:r>
            <a:r>
              <a:rPr kumimoji="1" lang="el-GR" altLang="zh-CN" dirty="0"/>
              <a:t>π </a:t>
            </a:r>
            <a:r>
              <a:rPr kumimoji="1" lang="en-US" altLang="zh-CN" dirty="0"/>
              <a:t>-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OAD =  (</a:t>
            </a:r>
            <a:r>
              <a:rPr kumimoji="1" lang="el-GR" altLang="zh-CN" dirty="0"/>
              <a:t>π </a:t>
            </a:r>
            <a:r>
              <a:rPr kumimoji="1" lang="en-US" altLang="zh-CN" dirty="0"/>
              <a:t>/2 +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CAD) +  (</a:t>
            </a:r>
            <a:r>
              <a:rPr kumimoji="1" lang="el-GR" altLang="zh-CN" dirty="0"/>
              <a:t>π </a:t>
            </a:r>
            <a:r>
              <a:rPr kumimoji="1" lang="en-US" altLang="zh-CN" dirty="0"/>
              <a:t>/2 -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BAO)</a:t>
            </a:r>
            <a:endParaRPr kumimoji="1" lang="zh-CN" altLang="en-US" dirty="0"/>
          </a:p>
        </p:txBody>
      </p:sp>
      <p:sp>
        <p:nvSpPr>
          <p:cNvPr id="82" name="文本框 81"/>
          <p:cNvSpPr txBox="1"/>
          <p:nvPr/>
        </p:nvSpPr>
        <p:spPr>
          <a:xfrm>
            <a:off x="5697812" y="4533952"/>
            <a:ext cx="2554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If </a:t>
            </a:r>
            <a:r>
              <a:rPr kumimoji="1" lang="en-US" altLang="zh-CN" dirty="0" err="1"/>
              <a:t>closewise</a:t>
            </a:r>
            <a:r>
              <a:rPr kumimoji="1" lang="en-US" altLang="zh-CN" dirty="0"/>
              <a:t> and small arc</a:t>
            </a:r>
            <a:endParaRPr kumimoji="1" lang="zh-CN" altLang="en-US" dirty="0"/>
          </a:p>
        </p:txBody>
      </p:sp>
      <p:sp>
        <p:nvSpPr>
          <p:cNvPr id="83" name="文本框 82"/>
          <p:cNvSpPr txBox="1"/>
          <p:nvPr/>
        </p:nvSpPr>
        <p:spPr>
          <a:xfrm>
            <a:off x="5990937" y="5269398"/>
            <a:ext cx="2538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COR =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AOR -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COA </a:t>
            </a:r>
            <a:endParaRPr kumimoji="1" lang="zh-CN" altLang="en-US" dirty="0"/>
          </a:p>
        </p:txBody>
      </p:sp>
      <p:sp>
        <p:nvSpPr>
          <p:cNvPr id="84" name="文本框 83"/>
          <p:cNvSpPr txBox="1"/>
          <p:nvPr/>
        </p:nvSpPr>
        <p:spPr>
          <a:xfrm>
            <a:off x="5990937" y="6125684"/>
            <a:ext cx="602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AOR = - </a:t>
            </a:r>
            <a:r>
              <a:rPr kumimoji="1" lang="el-GR" altLang="zh-CN" dirty="0"/>
              <a:t>π </a:t>
            </a:r>
            <a:r>
              <a:rPr kumimoji="1" lang="en-US" altLang="zh-CN" dirty="0"/>
              <a:t>-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OAD = –2</a:t>
            </a:r>
            <a:r>
              <a:rPr kumimoji="1" lang="el-GR" altLang="zh-CN" dirty="0"/>
              <a:t> π</a:t>
            </a:r>
            <a:r>
              <a:rPr kumimoji="1" lang="en-US" altLang="zh-CN" dirty="0"/>
              <a:t> +  (</a:t>
            </a:r>
            <a:r>
              <a:rPr kumimoji="1" lang="el-GR" altLang="zh-CN" dirty="0"/>
              <a:t>π </a:t>
            </a:r>
            <a:r>
              <a:rPr kumimoji="1" lang="en-US" altLang="zh-CN" dirty="0"/>
              <a:t>/2 +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CAD)  + (</a:t>
            </a:r>
            <a:r>
              <a:rPr kumimoji="1" lang="el-GR" altLang="zh-CN" dirty="0"/>
              <a:t>π</a:t>
            </a:r>
            <a:r>
              <a:rPr kumimoji="1" lang="en-US" altLang="zh-CN" dirty="0"/>
              <a:t>/2</a:t>
            </a:r>
            <a:r>
              <a:rPr kumimoji="1" lang="el-GR" altLang="zh-CN" dirty="0"/>
              <a:t> </a:t>
            </a:r>
            <a:r>
              <a:rPr kumimoji="1" lang="en-US" altLang="zh-CN" dirty="0"/>
              <a:t>-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BAO)</a:t>
            </a:r>
            <a:endParaRPr kumimoji="1" lang="zh-CN" altLang="en-US" dirty="0"/>
          </a:p>
        </p:txBody>
      </p:sp>
      <p:sp>
        <p:nvSpPr>
          <p:cNvPr id="85" name="文本框 84"/>
          <p:cNvSpPr txBox="1"/>
          <p:nvPr/>
        </p:nvSpPr>
        <p:spPr>
          <a:xfrm>
            <a:off x="5697812" y="5765719"/>
            <a:ext cx="2958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If anti-</a:t>
            </a:r>
            <a:r>
              <a:rPr kumimoji="1" lang="en-US" altLang="zh-CN" dirty="0" err="1"/>
              <a:t>closewise</a:t>
            </a:r>
            <a:r>
              <a:rPr kumimoji="1" lang="en-US" altLang="zh-CN" dirty="0"/>
              <a:t> and large arc</a:t>
            </a:r>
            <a:endParaRPr kumimoji="1" lang="zh-CN" altLang="en-US" dirty="0"/>
          </a:p>
        </p:txBody>
      </p:sp>
      <p:sp>
        <p:nvSpPr>
          <p:cNvPr id="86" name="文本框 85"/>
          <p:cNvSpPr txBox="1"/>
          <p:nvPr/>
        </p:nvSpPr>
        <p:spPr>
          <a:xfrm>
            <a:off x="5990937" y="6501165"/>
            <a:ext cx="3004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∠</a:t>
            </a:r>
            <a:r>
              <a:rPr kumimoji="1" lang="en-US" altLang="zh-CN" dirty="0"/>
              <a:t>ROC = 2</a:t>
            </a:r>
            <a:r>
              <a:rPr kumimoji="1" lang="el-GR" altLang="zh-CN" dirty="0"/>
              <a:t>π </a:t>
            </a:r>
            <a:r>
              <a:rPr kumimoji="1" lang="en-US" altLang="zh-CN" dirty="0"/>
              <a:t>+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AOR - </a:t>
            </a:r>
            <a:r>
              <a:rPr kumimoji="1" lang="zh-CN" altLang="en-US" dirty="0"/>
              <a:t>∠</a:t>
            </a:r>
            <a:r>
              <a:rPr kumimoji="1" lang="en-US" altLang="zh-CN" dirty="0"/>
              <a:t>COA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2161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1003905" y="1465943"/>
            <a:ext cx="3600000" cy="360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1003905" y="1964266"/>
            <a:ext cx="3600000" cy="278478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5" name="直线连接符 4"/>
          <p:cNvCxnSpPr/>
          <p:nvPr/>
        </p:nvCxnSpPr>
        <p:spPr>
          <a:xfrm>
            <a:off x="411239" y="3265943"/>
            <a:ext cx="4736495" cy="21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线连接符 5"/>
          <p:cNvCxnSpPr/>
          <p:nvPr/>
        </p:nvCxnSpPr>
        <p:spPr>
          <a:xfrm>
            <a:off x="1727428" y="1798676"/>
            <a:ext cx="2590571" cy="4217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/>
          <p:cNvCxnSpPr>
            <a:stCxn id="2" idx="0"/>
            <a:endCxn id="2" idx="4"/>
          </p:cNvCxnSpPr>
          <p:nvPr/>
        </p:nvCxnSpPr>
        <p:spPr>
          <a:xfrm>
            <a:off x="2803905" y="870143"/>
            <a:ext cx="0" cy="4791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/>
          <p:cNvCxnSpPr/>
          <p:nvPr/>
        </p:nvCxnSpPr>
        <p:spPr>
          <a:xfrm>
            <a:off x="1727428" y="1798676"/>
            <a:ext cx="0" cy="2950371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/>
          <p:cNvCxnSpPr/>
          <p:nvPr/>
        </p:nvCxnSpPr>
        <p:spPr>
          <a:xfrm>
            <a:off x="4317999" y="2210302"/>
            <a:ext cx="0" cy="2073831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/>
          <p:cNvCxnSpPr/>
          <p:nvPr/>
        </p:nvCxnSpPr>
        <p:spPr>
          <a:xfrm>
            <a:off x="1727428" y="2220411"/>
            <a:ext cx="2590571" cy="3118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/>
          <p:cNvCxnSpPr/>
          <p:nvPr/>
        </p:nvCxnSpPr>
        <p:spPr>
          <a:xfrm>
            <a:off x="1727428" y="2220411"/>
            <a:ext cx="1076477" cy="1045532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/>
          <p:cNvCxnSpPr/>
          <p:nvPr/>
        </p:nvCxnSpPr>
        <p:spPr>
          <a:xfrm>
            <a:off x="1727428" y="1798676"/>
            <a:ext cx="1076477" cy="1467267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/>
          <p:cNvCxnSpPr/>
          <p:nvPr/>
        </p:nvCxnSpPr>
        <p:spPr>
          <a:xfrm flipV="1">
            <a:off x="2803905" y="2220411"/>
            <a:ext cx="1514094" cy="105345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/>
          <p:cNvCxnSpPr/>
          <p:nvPr/>
        </p:nvCxnSpPr>
        <p:spPr>
          <a:xfrm flipV="1">
            <a:off x="2803905" y="2553144"/>
            <a:ext cx="1514094" cy="712799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连接符 28"/>
          <p:cNvCxnSpPr/>
          <p:nvPr/>
        </p:nvCxnSpPr>
        <p:spPr>
          <a:xfrm flipV="1">
            <a:off x="1727428" y="3273861"/>
            <a:ext cx="1076477" cy="1213472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/>
          <p:cNvCxnSpPr/>
          <p:nvPr/>
        </p:nvCxnSpPr>
        <p:spPr>
          <a:xfrm flipV="1">
            <a:off x="1727428" y="3273861"/>
            <a:ext cx="1076477" cy="1475186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/>
          <p:cNvCxnSpPr/>
          <p:nvPr/>
        </p:nvCxnSpPr>
        <p:spPr>
          <a:xfrm>
            <a:off x="2803905" y="3265943"/>
            <a:ext cx="1514094" cy="88272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连接符 34"/>
          <p:cNvCxnSpPr/>
          <p:nvPr/>
        </p:nvCxnSpPr>
        <p:spPr>
          <a:xfrm>
            <a:off x="2803905" y="3265943"/>
            <a:ext cx="1514094" cy="101819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1409711" y="150792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A</a:t>
            </a:r>
            <a:endParaRPr kumimoji="1"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4406910" y="201592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1426645" y="196512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</a:t>
            </a:r>
            <a:endParaRPr kumimoji="1" lang="zh-CN" altLang="en-US" dirty="0"/>
          </a:p>
        </p:txBody>
      </p:sp>
      <p:sp>
        <p:nvSpPr>
          <p:cNvPr id="39" name="文本框 38"/>
          <p:cNvSpPr txBox="1"/>
          <p:nvPr/>
        </p:nvSpPr>
        <p:spPr>
          <a:xfrm>
            <a:off x="4322246" y="2405389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D</a:t>
            </a:r>
            <a:endParaRPr kumimoji="1" lang="zh-CN" altLang="en-US" dirty="0"/>
          </a:p>
        </p:txBody>
      </p:sp>
      <p:sp>
        <p:nvSpPr>
          <p:cNvPr id="40" name="文本框 39"/>
          <p:cNvSpPr txBox="1"/>
          <p:nvPr/>
        </p:nvSpPr>
        <p:spPr>
          <a:xfrm>
            <a:off x="1409712" y="4776057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A’</a:t>
            </a:r>
            <a:endParaRPr kumimoji="1"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1409711" y="4234187"/>
            <a:ext cx="375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C’</a:t>
            </a:r>
            <a:endParaRPr kumimoji="1" lang="zh-CN" altLang="en-US" dirty="0"/>
          </a:p>
        </p:txBody>
      </p:sp>
      <p:sp>
        <p:nvSpPr>
          <p:cNvPr id="42" name="文本框 41"/>
          <p:cNvSpPr txBox="1"/>
          <p:nvPr/>
        </p:nvSpPr>
        <p:spPr>
          <a:xfrm>
            <a:off x="4339180" y="3946320"/>
            <a:ext cx="385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D’</a:t>
            </a:r>
            <a:endParaRPr kumimoji="1" lang="zh-CN" altLang="en-US" dirty="0"/>
          </a:p>
        </p:txBody>
      </p:sp>
      <p:sp>
        <p:nvSpPr>
          <p:cNvPr id="43" name="文本框 42"/>
          <p:cNvSpPr txBox="1"/>
          <p:nvPr/>
        </p:nvSpPr>
        <p:spPr>
          <a:xfrm>
            <a:off x="4271443" y="4200326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B’</a:t>
            </a:r>
            <a:endParaRPr kumimoji="1" lang="zh-CN" altLang="en-US" dirty="0"/>
          </a:p>
        </p:txBody>
      </p:sp>
      <p:sp>
        <p:nvSpPr>
          <p:cNvPr id="44" name="文本框 43"/>
          <p:cNvSpPr txBox="1"/>
          <p:nvPr/>
        </p:nvSpPr>
        <p:spPr>
          <a:xfrm>
            <a:off x="2764377" y="3302859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O</a:t>
            </a:r>
            <a:endParaRPr kumimoji="1" lang="zh-CN" altLang="en-US" dirty="0"/>
          </a:p>
        </p:txBody>
      </p:sp>
      <p:sp>
        <p:nvSpPr>
          <p:cNvPr id="45" name="文本框 44"/>
          <p:cNvSpPr txBox="1"/>
          <p:nvPr/>
        </p:nvSpPr>
        <p:spPr>
          <a:xfrm>
            <a:off x="3589867" y="3079526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RX</a:t>
            </a:r>
            <a:endParaRPr kumimoji="1" lang="zh-CN" altLang="en-US" dirty="0"/>
          </a:p>
        </p:txBody>
      </p:sp>
      <p:sp>
        <p:nvSpPr>
          <p:cNvPr id="46" name="文本框 45"/>
          <p:cNvSpPr txBox="1"/>
          <p:nvPr/>
        </p:nvSpPr>
        <p:spPr>
          <a:xfrm>
            <a:off x="2624668" y="246992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RY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1965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4890</TotalTime>
  <Words>2532</Words>
  <Application>Microsoft Macintosh PowerPoint</Application>
  <PresentationFormat>宽屏</PresentationFormat>
  <Paragraphs>347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张文权 zwq</cp:lastModifiedBy>
  <cp:revision>142</cp:revision>
  <dcterms:created xsi:type="dcterms:W3CDTF">2024-05-03T15:05:58Z</dcterms:created>
  <dcterms:modified xsi:type="dcterms:W3CDTF">2025-08-07T21:53:15Z</dcterms:modified>
</cp:coreProperties>
</file>